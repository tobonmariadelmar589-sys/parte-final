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</p:sldIdLst>
  <p:notesMasterIdLst>
    <p:notesMasterId r:id="rId10"/>
  </p:notesMasterIdLst>
  <p:sldSz cx="9144000" cy="5143500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notesMaster" Target="notesMasters/notesMaster1.xml"/><Relationship Id="rId11" Type="http://schemas.openxmlformats.org/officeDocument/2006/relationships/presProps" Target="presProps.xml"/><Relationship Id="rId12" Type="http://schemas.openxmlformats.org/officeDocument/2006/relationships/viewProps" Target="viewProps.xml"/><Relationship Id="rId13" Type="http://schemas.openxmlformats.org/officeDocument/2006/relationships/theme" Target="theme/theme1.xml"/><Relationship Id="rId14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1E276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64592" cy="5143500"/>
          </a:xfrm>
          <a:prstGeom prst="rect">
            <a:avLst/>
          </a:prstGeom>
          <a:solidFill>
            <a:srgbClr val="C9A84C"/>
          </a:solidFill>
          <a:ln w="12700">
            <a:solidFill>
              <a:srgbClr val="C9A84C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7223760" y="0"/>
            <a:ext cx="1920240" cy="5143500"/>
          </a:xfrm>
          <a:prstGeom prst="rect">
            <a:avLst/>
          </a:prstGeom>
          <a:solidFill>
            <a:srgbClr val="162054"/>
          </a:solidFill>
          <a:ln w="12700">
            <a:solidFill>
              <a:srgbClr val="162054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457200" y="777240"/>
            <a:ext cx="82296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800" b="1" dirty="0">
                <a:solidFill>
                  <a:srgbClr val="C9A84C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JUSTICIA &amp; ASOCIADOS</a:t>
            </a:r>
            <a:endParaRPr lang="en-US" sz="3800" dirty="0"/>
          </a:p>
        </p:txBody>
      </p:sp>
      <p:sp>
        <p:nvSpPr>
          <p:cNvPr id="5" name="Text 3"/>
          <p:cNvSpPr/>
          <p:nvPr/>
        </p:nvSpPr>
        <p:spPr>
          <a:xfrm>
            <a:off x="457200" y="1737360"/>
            <a:ext cx="82296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700" i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Sistema de Gestión para Bufete de Abogados</a:t>
            </a:r>
            <a:endParaRPr lang="en-US" sz="1700" dirty="0"/>
          </a:p>
        </p:txBody>
      </p:sp>
      <p:sp>
        <p:nvSpPr>
          <p:cNvPr id="6" name="Shape 4"/>
          <p:cNvSpPr/>
          <p:nvPr/>
        </p:nvSpPr>
        <p:spPr>
          <a:xfrm>
            <a:off x="2651760" y="2359152"/>
            <a:ext cx="3840480" cy="45720"/>
          </a:xfrm>
          <a:prstGeom prst="rect">
            <a:avLst/>
          </a:prstGeom>
          <a:solidFill>
            <a:srgbClr val="C9A84C"/>
          </a:solidFill>
          <a:ln w="12700">
            <a:solidFill>
              <a:srgbClr val="C9A84C"/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777240" y="2578608"/>
            <a:ext cx="1691640" cy="548640"/>
          </a:xfrm>
          <a:prstGeom prst="rect">
            <a:avLst/>
          </a:prstGeom>
          <a:solidFill>
            <a:srgbClr val="C9A84C">
              <a:alpha val="85000"/>
            </a:srgbClr>
          </a:solidFill>
          <a:ln w="12700">
            <a:solidFill>
              <a:srgbClr val="C9A84C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777240" y="2578608"/>
            <a:ext cx="16916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Clientes</a:t>
            </a:r>
            <a:endParaRPr lang="en-US" sz="1100" dirty="0"/>
          </a:p>
        </p:txBody>
      </p:sp>
      <p:sp>
        <p:nvSpPr>
          <p:cNvPr id="9" name="Shape 7"/>
          <p:cNvSpPr/>
          <p:nvPr/>
        </p:nvSpPr>
        <p:spPr>
          <a:xfrm>
            <a:off x="2697480" y="2578608"/>
            <a:ext cx="1691640" cy="548640"/>
          </a:xfrm>
          <a:prstGeom prst="rect">
            <a:avLst/>
          </a:prstGeom>
          <a:solidFill>
            <a:srgbClr val="C9A84C">
              <a:alpha val="85000"/>
            </a:srgbClr>
          </a:solidFill>
          <a:ln w="12700">
            <a:solidFill>
              <a:srgbClr val="C9A84C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2697480" y="2578608"/>
            <a:ext cx="16916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Abogados</a:t>
            </a:r>
            <a:endParaRPr lang="en-US" sz="1100" dirty="0"/>
          </a:p>
        </p:txBody>
      </p:sp>
      <p:sp>
        <p:nvSpPr>
          <p:cNvPr id="11" name="Shape 9"/>
          <p:cNvSpPr/>
          <p:nvPr/>
        </p:nvSpPr>
        <p:spPr>
          <a:xfrm>
            <a:off x="4617720" y="2578608"/>
            <a:ext cx="1691640" cy="548640"/>
          </a:xfrm>
          <a:prstGeom prst="rect">
            <a:avLst/>
          </a:prstGeom>
          <a:solidFill>
            <a:srgbClr val="C9A84C">
              <a:alpha val="85000"/>
            </a:srgbClr>
          </a:solidFill>
          <a:ln w="12700">
            <a:solidFill>
              <a:srgbClr val="C9A84C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4617720" y="2578608"/>
            <a:ext cx="16916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Casos Legales</a:t>
            </a:r>
            <a:endParaRPr lang="en-US" sz="1100" dirty="0"/>
          </a:p>
        </p:txBody>
      </p:sp>
      <p:sp>
        <p:nvSpPr>
          <p:cNvPr id="13" name="Shape 11"/>
          <p:cNvSpPr/>
          <p:nvPr/>
        </p:nvSpPr>
        <p:spPr>
          <a:xfrm>
            <a:off x="6537960" y="2578608"/>
            <a:ext cx="1691640" cy="548640"/>
          </a:xfrm>
          <a:prstGeom prst="rect">
            <a:avLst/>
          </a:prstGeom>
          <a:solidFill>
            <a:srgbClr val="C9A84C">
              <a:alpha val="85000"/>
            </a:srgbClr>
          </a:solidFill>
          <a:ln w="12700">
            <a:solidFill>
              <a:srgbClr val="C9A84C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6537960" y="2578608"/>
            <a:ext cx="16916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Audiencias y Citas</a:t>
            </a:r>
            <a:endParaRPr lang="en-US" sz="1100" dirty="0"/>
          </a:p>
        </p:txBody>
      </p:sp>
      <p:sp>
        <p:nvSpPr>
          <p:cNvPr id="15" name="Text 13"/>
          <p:cNvSpPr/>
          <p:nvPr/>
        </p:nvSpPr>
        <p:spPr>
          <a:xfrm>
            <a:off x="457200" y="3429000"/>
            <a:ext cx="82296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8899C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Python  ·  Tkinter  ·  SQLite  ·  openpyxl  ·  reportlab  ·  Pillow  ·  tkcalendar</a:t>
            </a:r>
            <a:endParaRPr lang="en-US" sz="1200" dirty="0"/>
          </a:p>
        </p:txBody>
      </p:sp>
      <p:sp>
        <p:nvSpPr>
          <p:cNvPr id="16" name="Text 14"/>
          <p:cNvSpPr/>
          <p:nvPr/>
        </p:nvSpPr>
        <p:spPr>
          <a:xfrm>
            <a:off x="457200" y="4663440"/>
            <a:ext cx="82296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6677A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LawFirm Management System  |  2025</a:t>
            </a:r>
            <a:endParaRPr lang="en-US" sz="10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EEF1F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960120"/>
          </a:xfrm>
          <a:prstGeom prst="rect">
            <a:avLst/>
          </a:prstGeom>
          <a:solidFill>
            <a:srgbClr val="1E2761"/>
          </a:solidFill>
          <a:ln w="12700">
            <a:solidFill>
              <a:srgbClr val="1E2761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0"/>
            <a:ext cx="164592" cy="5143500"/>
          </a:xfrm>
          <a:prstGeom prst="rect">
            <a:avLst/>
          </a:prstGeom>
          <a:solidFill>
            <a:srgbClr val="C9A84C"/>
          </a:solidFill>
          <a:ln w="12700">
            <a:solidFill>
              <a:srgbClr val="C9A84C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365760" y="91440"/>
            <a:ext cx="841248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PROPÓSITO Y OBJETIVOS</a:t>
            </a:r>
            <a:endParaRPr lang="en-US" sz="2600" dirty="0"/>
          </a:p>
        </p:txBody>
      </p:sp>
      <p:sp>
        <p:nvSpPr>
          <p:cNvPr id="5" name="Shape 3"/>
          <p:cNvSpPr/>
          <p:nvPr/>
        </p:nvSpPr>
        <p:spPr>
          <a:xfrm>
            <a:off x="365760" y="1097280"/>
            <a:ext cx="3977640" cy="3657600"/>
          </a:xfrm>
          <a:prstGeom prst="rect">
            <a:avLst/>
          </a:prstGeom>
          <a:solidFill>
            <a:srgbClr val="FFFFFF"/>
          </a:solidFill>
          <a:ln w="12700">
            <a:solidFill>
              <a:srgbClr val="E0E0E0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0000"/>
              </a:srgbClr>
            </a:outerShdw>
          </a:effectLst>
        </p:spPr>
      </p:sp>
      <p:sp>
        <p:nvSpPr>
          <p:cNvPr id="6" name="Shape 4"/>
          <p:cNvSpPr/>
          <p:nvPr/>
        </p:nvSpPr>
        <p:spPr>
          <a:xfrm>
            <a:off x="365760" y="1097280"/>
            <a:ext cx="3977640" cy="457200"/>
          </a:xfrm>
          <a:prstGeom prst="rect">
            <a:avLst/>
          </a:prstGeom>
          <a:solidFill>
            <a:srgbClr val="1E2761"/>
          </a:solidFill>
          <a:ln w="12700">
            <a:solidFill>
              <a:srgbClr val="1E2761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365760" y="1097280"/>
            <a:ext cx="39776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C9A84C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PROPÓSITO</a:t>
            </a:r>
            <a:endParaRPr lang="en-US" sz="1300" dirty="0"/>
          </a:p>
        </p:txBody>
      </p:sp>
      <p:sp>
        <p:nvSpPr>
          <p:cNvPr id="8" name="Text 6"/>
          <p:cNvSpPr/>
          <p:nvPr/>
        </p:nvSpPr>
        <p:spPr>
          <a:xfrm>
            <a:off x="548640" y="1691640"/>
            <a:ext cx="3611880" cy="2926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50" dirty="0">
                <a:solidFill>
                  <a:srgbClr val="2D374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Desarrollar una aplicación de escritorio que permita al bufete de abogados "Justicia &amp; Asociados" centralizar y gestionar de forma eficiente su información operativa: clientes, abogados, casos legales y audiencias, con base de datos, exportación de reportes y validación automática de datos.</a:t>
            </a:r>
            <a:endParaRPr lang="en-US" sz="1250" dirty="0"/>
          </a:p>
        </p:txBody>
      </p:sp>
      <p:sp>
        <p:nvSpPr>
          <p:cNvPr id="9" name="Shape 7"/>
          <p:cNvSpPr/>
          <p:nvPr/>
        </p:nvSpPr>
        <p:spPr>
          <a:xfrm>
            <a:off x="4800600" y="1097280"/>
            <a:ext cx="3977640" cy="3657600"/>
          </a:xfrm>
          <a:prstGeom prst="rect">
            <a:avLst/>
          </a:prstGeom>
          <a:solidFill>
            <a:srgbClr val="FFFFFF"/>
          </a:solidFill>
          <a:ln w="12700">
            <a:solidFill>
              <a:srgbClr val="E0E0E0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0000"/>
              </a:srgbClr>
            </a:outerShdw>
          </a:effectLst>
        </p:spPr>
      </p:sp>
      <p:sp>
        <p:nvSpPr>
          <p:cNvPr id="10" name="Shape 8"/>
          <p:cNvSpPr/>
          <p:nvPr/>
        </p:nvSpPr>
        <p:spPr>
          <a:xfrm>
            <a:off x="4800600" y="1097280"/>
            <a:ext cx="3977640" cy="457200"/>
          </a:xfrm>
          <a:prstGeom prst="rect">
            <a:avLst/>
          </a:prstGeom>
          <a:solidFill>
            <a:srgbClr val="C9A84C"/>
          </a:solidFill>
          <a:ln w="12700">
            <a:solidFill>
              <a:srgbClr val="C9A84C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4800600" y="1097280"/>
            <a:ext cx="39776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1E2761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OBJETIVOS</a:t>
            </a:r>
            <a:endParaRPr lang="en-US" sz="1300" dirty="0"/>
          </a:p>
        </p:txBody>
      </p:sp>
      <p:sp>
        <p:nvSpPr>
          <p:cNvPr id="12" name="Text 10"/>
          <p:cNvSpPr/>
          <p:nvPr/>
        </p:nvSpPr>
        <p:spPr>
          <a:xfrm>
            <a:off x="4983480" y="1691640"/>
            <a:ext cx="3657600" cy="2926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buSzPct val="100000"/>
              <a:buChar char="•"/>
            </a:pPr>
            <a:r>
              <a:rPr lang="en-US" sz="1200" dirty="0">
                <a:solidFill>
                  <a:srgbClr val="2D374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Implementar 4 módulos diferenciados con Tkinter</a:t>
            </a:r>
            <a:endParaRPr lang="en-US" sz="1200" dirty="0"/>
          </a:p>
          <a:p>
            <a:pPr marL="342900" indent="-342900">
              <a:buSzPct val="100000"/>
              <a:buChar char="•"/>
            </a:pPr>
            <a:r>
              <a:rPr lang="en-US" sz="1200" dirty="0">
                <a:solidFill>
                  <a:srgbClr val="2D374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Integrar SQLite con stored procedures y triggers</a:t>
            </a:r>
            <a:endParaRPr lang="en-US" sz="1200" dirty="0"/>
          </a:p>
          <a:p>
            <a:pPr marL="342900" indent="-342900">
              <a:buSzPct val="100000"/>
              <a:buChar char="•"/>
            </a:pPr>
            <a:r>
              <a:rPr lang="en-US" sz="1200" dirty="0">
                <a:solidFill>
                  <a:srgbClr val="2D374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Aplicar validaciones estrictas en todos los campos</a:t>
            </a:r>
            <a:endParaRPr lang="en-US" sz="1200" dirty="0"/>
          </a:p>
          <a:p>
            <a:pPr marL="342900" indent="-342900">
              <a:buSzPct val="100000"/>
              <a:buChar char="•"/>
            </a:pPr>
            <a:r>
              <a:rPr lang="en-US" sz="1200" dirty="0">
                <a:solidFill>
                  <a:srgbClr val="2D374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Exportar reportes a Excel y PDF con filtros por fecha y categoría</a:t>
            </a:r>
            <a:endParaRPr lang="en-US" sz="1200" dirty="0"/>
          </a:p>
          <a:p>
            <a:pPr marL="342900" indent="-342900">
              <a:buSzPct val="100000"/>
              <a:buChar char="•"/>
            </a:pPr>
            <a:r>
              <a:rPr lang="en-US" sz="1200" dirty="0">
                <a:solidFill>
                  <a:srgbClr val="2D374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Gestionar fotos de clientes y abogados con Pillow</a:t>
            </a:r>
            <a:endParaRPr lang="en-US" sz="1200" dirty="0"/>
          </a:p>
          <a:p>
            <a:pPr marL="342900" indent="-342900">
              <a:buSzPct val="100000"/>
              <a:buChar char="•"/>
            </a:pPr>
            <a:r>
              <a:rPr lang="en-US" sz="1200" dirty="0">
                <a:solidFill>
                  <a:srgbClr val="2D374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Implementar 2 temas visuales intercambiables (claro/oscuro)</a:t>
            </a:r>
            <a:endParaRPr lang="en-US" sz="1200" dirty="0"/>
          </a:p>
          <a:p>
            <a:pPr marL="342900" indent="-342900">
              <a:buSzPct val="100000"/>
              <a:buChar char="•"/>
            </a:pPr>
            <a:r>
              <a:rPr lang="en-US" sz="1200" dirty="0">
                <a:solidFill>
                  <a:srgbClr val="2D374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Organizar el código en carpetas: models/, utils/</a:t>
            </a:r>
            <a:endParaRPr lang="en-US" sz="1200" dirty="0"/>
          </a:p>
          <a:p>
            <a:pPr marL="342900" indent="-342900">
              <a:buSzPct val="100000"/>
              <a:buChar char="•"/>
            </a:pPr>
            <a:r>
              <a:rPr lang="en-US" sz="1200" dirty="0">
                <a:solidFill>
                  <a:srgbClr val="2D374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Proveer Docker para ejecución en cualquier entorno</a:t>
            </a:r>
            <a:endParaRPr lang="en-US" sz="12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EEF1F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960120"/>
          </a:xfrm>
          <a:prstGeom prst="rect">
            <a:avLst/>
          </a:prstGeom>
          <a:solidFill>
            <a:srgbClr val="1E2761"/>
          </a:solidFill>
          <a:ln w="12700">
            <a:solidFill>
              <a:srgbClr val="1E2761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0"/>
            <a:ext cx="164592" cy="5143500"/>
          </a:xfrm>
          <a:prstGeom prst="rect">
            <a:avLst/>
          </a:prstGeom>
          <a:solidFill>
            <a:srgbClr val="C9A84C"/>
          </a:solidFill>
          <a:ln w="12700">
            <a:solidFill>
              <a:srgbClr val="C9A84C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365760" y="91440"/>
            <a:ext cx="841248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PROBLEMÁTICA QUE RESUELVE</a:t>
            </a:r>
            <a:endParaRPr lang="en-US" sz="2600" dirty="0"/>
          </a:p>
        </p:txBody>
      </p:sp>
      <p:sp>
        <p:nvSpPr>
          <p:cNvPr id="5" name="Shape 3"/>
          <p:cNvSpPr/>
          <p:nvPr/>
        </p:nvSpPr>
        <p:spPr>
          <a:xfrm>
            <a:off x="365760" y="1097280"/>
            <a:ext cx="4160520" cy="1161288"/>
          </a:xfrm>
          <a:prstGeom prst="rect">
            <a:avLst/>
          </a:prstGeom>
          <a:solidFill>
            <a:srgbClr val="FFFFFF"/>
          </a:solidFill>
          <a:ln w="12700">
            <a:solidFill>
              <a:srgbClr val="E0E0E0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0000"/>
              </a:srgbClr>
            </a:outerShdw>
          </a:effectLst>
        </p:spPr>
      </p:sp>
      <p:sp>
        <p:nvSpPr>
          <p:cNvPr id="6" name="Shape 4"/>
          <p:cNvSpPr/>
          <p:nvPr/>
        </p:nvSpPr>
        <p:spPr>
          <a:xfrm>
            <a:off x="365760" y="1097280"/>
            <a:ext cx="64008" cy="1161288"/>
          </a:xfrm>
          <a:prstGeom prst="rect">
            <a:avLst/>
          </a:prstGeom>
          <a:solidFill>
            <a:srgbClr val="C9A84C"/>
          </a:solidFill>
          <a:ln w="12700">
            <a:solidFill>
              <a:srgbClr val="C9A84C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502920" y="1170432"/>
            <a:ext cx="393192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1E2761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📂  Información dispersa</a:t>
            </a:r>
            <a:endParaRPr lang="en-US" sz="1250" dirty="0"/>
          </a:p>
        </p:txBody>
      </p:sp>
      <p:sp>
        <p:nvSpPr>
          <p:cNvPr id="8" name="Text 6"/>
          <p:cNvSpPr/>
          <p:nvPr/>
        </p:nvSpPr>
        <p:spPr>
          <a:xfrm>
            <a:off x="502920" y="1499616"/>
            <a:ext cx="3931920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2D374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Datos de clientes, casos y abogados en hojas de cálculo desconectadas y archivos físicos sin organización ni respaldo.</a:t>
            </a:r>
            <a:endParaRPr lang="en-US" sz="1150" dirty="0"/>
          </a:p>
        </p:txBody>
      </p:sp>
      <p:sp>
        <p:nvSpPr>
          <p:cNvPr id="9" name="Shape 7"/>
          <p:cNvSpPr/>
          <p:nvPr/>
        </p:nvSpPr>
        <p:spPr>
          <a:xfrm>
            <a:off x="4846320" y="1097280"/>
            <a:ext cx="4160520" cy="1161288"/>
          </a:xfrm>
          <a:prstGeom prst="rect">
            <a:avLst/>
          </a:prstGeom>
          <a:solidFill>
            <a:srgbClr val="FFFFFF"/>
          </a:solidFill>
          <a:ln w="12700">
            <a:solidFill>
              <a:srgbClr val="E0E0E0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0000"/>
              </a:srgbClr>
            </a:outerShdw>
          </a:effectLst>
        </p:spPr>
      </p:sp>
      <p:sp>
        <p:nvSpPr>
          <p:cNvPr id="10" name="Shape 8"/>
          <p:cNvSpPr/>
          <p:nvPr/>
        </p:nvSpPr>
        <p:spPr>
          <a:xfrm>
            <a:off x="4846320" y="1097280"/>
            <a:ext cx="64008" cy="1161288"/>
          </a:xfrm>
          <a:prstGeom prst="rect">
            <a:avLst/>
          </a:prstGeom>
          <a:solidFill>
            <a:srgbClr val="C9A84C"/>
          </a:solidFill>
          <a:ln w="12700">
            <a:solidFill>
              <a:srgbClr val="C9A84C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4983480" y="1170432"/>
            <a:ext cx="393192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1E2761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⏱  Pérdida de tiempo</a:t>
            </a:r>
            <a:endParaRPr lang="en-US" sz="1250" dirty="0"/>
          </a:p>
        </p:txBody>
      </p:sp>
      <p:sp>
        <p:nvSpPr>
          <p:cNvPr id="12" name="Text 10"/>
          <p:cNvSpPr/>
          <p:nvPr/>
        </p:nvSpPr>
        <p:spPr>
          <a:xfrm>
            <a:off x="4983480" y="1499616"/>
            <a:ext cx="3931920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2D374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 búsqueda manual de expedientes consume horas valiosas que deberían destinarse a la práctica legal.</a:t>
            </a:r>
            <a:endParaRPr lang="en-US" sz="1150" dirty="0"/>
          </a:p>
        </p:txBody>
      </p:sp>
      <p:sp>
        <p:nvSpPr>
          <p:cNvPr id="13" name="Shape 11"/>
          <p:cNvSpPr/>
          <p:nvPr/>
        </p:nvSpPr>
        <p:spPr>
          <a:xfrm>
            <a:off x="365760" y="2414016"/>
            <a:ext cx="4160520" cy="1161288"/>
          </a:xfrm>
          <a:prstGeom prst="rect">
            <a:avLst/>
          </a:prstGeom>
          <a:solidFill>
            <a:srgbClr val="FFFFFF"/>
          </a:solidFill>
          <a:ln w="12700">
            <a:solidFill>
              <a:srgbClr val="E0E0E0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0000"/>
              </a:srgbClr>
            </a:outerShdw>
          </a:effectLst>
        </p:spPr>
      </p:sp>
      <p:sp>
        <p:nvSpPr>
          <p:cNvPr id="14" name="Shape 12"/>
          <p:cNvSpPr/>
          <p:nvPr/>
        </p:nvSpPr>
        <p:spPr>
          <a:xfrm>
            <a:off x="365760" y="2414016"/>
            <a:ext cx="64008" cy="1161288"/>
          </a:xfrm>
          <a:prstGeom prst="rect">
            <a:avLst/>
          </a:prstGeom>
          <a:solidFill>
            <a:srgbClr val="C9A84C"/>
          </a:solidFill>
          <a:ln w="12700">
            <a:solidFill>
              <a:srgbClr val="C9A84C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502920" y="2487168"/>
            <a:ext cx="393192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1E2761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📅  Fechas sin control</a:t>
            </a:r>
            <a:endParaRPr lang="en-US" sz="1250" dirty="0"/>
          </a:p>
        </p:txBody>
      </p:sp>
      <p:sp>
        <p:nvSpPr>
          <p:cNvPr id="16" name="Text 14"/>
          <p:cNvSpPr/>
          <p:nvPr/>
        </p:nvSpPr>
        <p:spPr>
          <a:xfrm>
            <a:off x="502920" y="2816352"/>
            <a:ext cx="3931920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2D374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Audiencias y plazos procesales omitidos por falta de un sistema centralizado de agenda y seguimiento.</a:t>
            </a:r>
            <a:endParaRPr lang="en-US" sz="1150" dirty="0"/>
          </a:p>
        </p:txBody>
      </p:sp>
      <p:sp>
        <p:nvSpPr>
          <p:cNvPr id="17" name="Shape 15"/>
          <p:cNvSpPr/>
          <p:nvPr/>
        </p:nvSpPr>
        <p:spPr>
          <a:xfrm>
            <a:off x="4846320" y="2414016"/>
            <a:ext cx="4160520" cy="1161288"/>
          </a:xfrm>
          <a:prstGeom prst="rect">
            <a:avLst/>
          </a:prstGeom>
          <a:solidFill>
            <a:srgbClr val="FFFFFF"/>
          </a:solidFill>
          <a:ln w="12700">
            <a:solidFill>
              <a:srgbClr val="E0E0E0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0000"/>
              </a:srgbClr>
            </a:outerShdw>
          </a:effectLst>
        </p:spPr>
      </p:sp>
      <p:sp>
        <p:nvSpPr>
          <p:cNvPr id="18" name="Shape 16"/>
          <p:cNvSpPr/>
          <p:nvPr/>
        </p:nvSpPr>
        <p:spPr>
          <a:xfrm>
            <a:off x="4846320" y="2414016"/>
            <a:ext cx="64008" cy="1161288"/>
          </a:xfrm>
          <a:prstGeom prst="rect">
            <a:avLst/>
          </a:prstGeom>
          <a:solidFill>
            <a:srgbClr val="C9A84C"/>
          </a:solidFill>
          <a:ln w="12700">
            <a:solidFill>
              <a:srgbClr val="C9A84C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4983480" y="2487168"/>
            <a:ext cx="393192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1E2761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📋  Sin control de casos</a:t>
            </a:r>
            <a:endParaRPr lang="en-US" sz="1250" dirty="0"/>
          </a:p>
        </p:txBody>
      </p:sp>
      <p:sp>
        <p:nvSpPr>
          <p:cNvPr id="20" name="Text 18"/>
          <p:cNvSpPr/>
          <p:nvPr/>
        </p:nvSpPr>
        <p:spPr>
          <a:xfrm>
            <a:off x="4983480" y="2816352"/>
            <a:ext cx="3931920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2D374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Imposible conocer el estado actual de cada caso ni el historial completo de actuaciones por cliente.</a:t>
            </a:r>
            <a:endParaRPr lang="en-US" sz="1150" dirty="0"/>
          </a:p>
        </p:txBody>
      </p:sp>
      <p:sp>
        <p:nvSpPr>
          <p:cNvPr id="21" name="Shape 19"/>
          <p:cNvSpPr/>
          <p:nvPr/>
        </p:nvSpPr>
        <p:spPr>
          <a:xfrm>
            <a:off x="365760" y="3730752"/>
            <a:ext cx="4160520" cy="1161288"/>
          </a:xfrm>
          <a:prstGeom prst="rect">
            <a:avLst/>
          </a:prstGeom>
          <a:solidFill>
            <a:srgbClr val="FFFFFF"/>
          </a:solidFill>
          <a:ln w="12700">
            <a:solidFill>
              <a:srgbClr val="E0E0E0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0000"/>
              </a:srgbClr>
            </a:outerShdw>
          </a:effectLst>
        </p:spPr>
      </p:sp>
      <p:sp>
        <p:nvSpPr>
          <p:cNvPr id="22" name="Shape 20"/>
          <p:cNvSpPr/>
          <p:nvPr/>
        </p:nvSpPr>
        <p:spPr>
          <a:xfrm>
            <a:off x="365760" y="3730752"/>
            <a:ext cx="64008" cy="1161288"/>
          </a:xfrm>
          <a:prstGeom prst="rect">
            <a:avLst/>
          </a:prstGeom>
          <a:solidFill>
            <a:srgbClr val="C9A84C"/>
          </a:solidFill>
          <a:ln w="12700">
            <a:solidFill>
              <a:srgbClr val="C9A84C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502920" y="3803904"/>
            <a:ext cx="393192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1E2761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📊  Sin reportes de gestión</a:t>
            </a:r>
            <a:endParaRPr lang="en-US" sz="1250" dirty="0"/>
          </a:p>
        </p:txBody>
      </p:sp>
      <p:sp>
        <p:nvSpPr>
          <p:cNvPr id="24" name="Text 22"/>
          <p:cNvSpPr/>
          <p:nvPr/>
        </p:nvSpPr>
        <p:spPr>
          <a:xfrm>
            <a:off x="502920" y="4133088"/>
            <a:ext cx="3931920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2D374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 existe forma de generar informes en Excel o PDF para presentar a socios, clientes o entidades externas.</a:t>
            </a:r>
            <a:endParaRPr lang="en-US" sz="1150" dirty="0"/>
          </a:p>
        </p:txBody>
      </p:sp>
      <p:sp>
        <p:nvSpPr>
          <p:cNvPr id="25" name="Shape 23"/>
          <p:cNvSpPr/>
          <p:nvPr/>
        </p:nvSpPr>
        <p:spPr>
          <a:xfrm>
            <a:off x="4846320" y="3730752"/>
            <a:ext cx="4160520" cy="1161288"/>
          </a:xfrm>
          <a:prstGeom prst="rect">
            <a:avLst/>
          </a:prstGeom>
          <a:solidFill>
            <a:srgbClr val="FFFFFF"/>
          </a:solidFill>
          <a:ln w="12700">
            <a:solidFill>
              <a:srgbClr val="E0E0E0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0000"/>
              </a:srgbClr>
            </a:outerShdw>
          </a:effectLst>
        </p:spPr>
      </p:sp>
      <p:sp>
        <p:nvSpPr>
          <p:cNvPr id="26" name="Shape 24"/>
          <p:cNvSpPr/>
          <p:nvPr/>
        </p:nvSpPr>
        <p:spPr>
          <a:xfrm>
            <a:off x="4846320" y="3730752"/>
            <a:ext cx="64008" cy="1161288"/>
          </a:xfrm>
          <a:prstGeom prst="rect">
            <a:avLst/>
          </a:prstGeom>
          <a:solidFill>
            <a:srgbClr val="C9A84C"/>
          </a:solidFill>
          <a:ln w="12700">
            <a:solidFill>
              <a:srgbClr val="C9A84C"/>
            </a:solidFill>
            <a:prstDash val="solid"/>
          </a:ln>
        </p:spPr>
      </p:sp>
      <p:sp>
        <p:nvSpPr>
          <p:cNvPr id="27" name="Text 25"/>
          <p:cNvSpPr/>
          <p:nvPr/>
        </p:nvSpPr>
        <p:spPr>
          <a:xfrm>
            <a:off x="4983480" y="3803904"/>
            <a:ext cx="393192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1E2761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🔒  Sin respaldo digital</a:t>
            </a:r>
            <a:endParaRPr lang="en-US" sz="1250" dirty="0"/>
          </a:p>
        </p:txBody>
      </p:sp>
      <p:sp>
        <p:nvSpPr>
          <p:cNvPr id="28" name="Text 26"/>
          <p:cNvSpPr/>
          <p:nvPr/>
        </p:nvSpPr>
        <p:spPr>
          <a:xfrm>
            <a:off x="4983480" y="4133088"/>
            <a:ext cx="3931920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2D374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 información no tiene copia de seguridad estructurada, lo que representa un riesgo operativo crítico.</a:t>
            </a:r>
            <a:endParaRPr lang="en-US" sz="115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EEF1F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960120"/>
          </a:xfrm>
          <a:prstGeom prst="rect">
            <a:avLst/>
          </a:prstGeom>
          <a:solidFill>
            <a:srgbClr val="1E2761"/>
          </a:solidFill>
          <a:ln w="12700">
            <a:solidFill>
              <a:srgbClr val="1E2761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0"/>
            <a:ext cx="164592" cy="5143500"/>
          </a:xfrm>
          <a:prstGeom prst="rect">
            <a:avLst/>
          </a:prstGeom>
          <a:solidFill>
            <a:srgbClr val="C9A84C"/>
          </a:solidFill>
          <a:ln w="12700">
            <a:solidFill>
              <a:srgbClr val="C9A84C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365760" y="91440"/>
            <a:ext cx="841248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TECNOLOGÍAS UTILIZADAS</a:t>
            </a:r>
            <a:endParaRPr lang="en-US" sz="2600" dirty="0"/>
          </a:p>
        </p:txBody>
      </p:sp>
      <p:sp>
        <p:nvSpPr>
          <p:cNvPr id="5" name="Shape 3"/>
          <p:cNvSpPr/>
          <p:nvPr/>
        </p:nvSpPr>
        <p:spPr>
          <a:xfrm>
            <a:off x="365760" y="1078992"/>
            <a:ext cx="8412480" cy="512064"/>
          </a:xfrm>
          <a:prstGeom prst="rect">
            <a:avLst/>
          </a:prstGeom>
          <a:solidFill>
            <a:srgbClr val="FFFFFF"/>
          </a:solidFill>
          <a:ln w="12700">
            <a:solidFill>
              <a:srgbClr val="E0E0E0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0000"/>
              </a:srgbClr>
            </a:outerShdw>
          </a:effectLst>
        </p:spPr>
      </p:sp>
      <p:sp>
        <p:nvSpPr>
          <p:cNvPr id="6" name="Shape 4"/>
          <p:cNvSpPr/>
          <p:nvPr/>
        </p:nvSpPr>
        <p:spPr>
          <a:xfrm>
            <a:off x="365760" y="1078992"/>
            <a:ext cx="1737360" cy="512064"/>
          </a:xfrm>
          <a:prstGeom prst="rect">
            <a:avLst/>
          </a:prstGeom>
          <a:solidFill>
            <a:srgbClr val="1E2761"/>
          </a:solidFill>
          <a:ln w="12700">
            <a:solidFill>
              <a:srgbClr val="1E2761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365760" y="1078992"/>
            <a:ext cx="1737360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Python 3</a:t>
            </a:r>
            <a:endParaRPr lang="en-US" sz="1200" dirty="0"/>
          </a:p>
        </p:txBody>
      </p:sp>
      <p:sp>
        <p:nvSpPr>
          <p:cNvPr id="8" name="Text 6"/>
          <p:cNvSpPr/>
          <p:nvPr/>
        </p:nvSpPr>
        <p:spPr>
          <a:xfrm>
            <a:off x="2240280" y="1133856"/>
            <a:ext cx="640080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2D374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Lenguaje principal. Funciones, estructuras de control y paradigma orientado a objetos.</a:t>
            </a:r>
            <a:endParaRPr lang="en-US" sz="1200" dirty="0"/>
          </a:p>
        </p:txBody>
      </p:sp>
      <p:sp>
        <p:nvSpPr>
          <p:cNvPr id="9" name="Shape 7"/>
          <p:cNvSpPr/>
          <p:nvPr/>
        </p:nvSpPr>
        <p:spPr>
          <a:xfrm>
            <a:off x="365760" y="1655064"/>
            <a:ext cx="8412480" cy="512064"/>
          </a:xfrm>
          <a:prstGeom prst="rect">
            <a:avLst/>
          </a:prstGeom>
          <a:solidFill>
            <a:srgbClr val="FFFFFF"/>
          </a:solidFill>
          <a:ln w="12700">
            <a:solidFill>
              <a:srgbClr val="E0E0E0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0000"/>
              </a:srgbClr>
            </a:outerShdw>
          </a:effectLst>
        </p:spPr>
      </p:sp>
      <p:sp>
        <p:nvSpPr>
          <p:cNvPr id="10" name="Shape 8"/>
          <p:cNvSpPr/>
          <p:nvPr/>
        </p:nvSpPr>
        <p:spPr>
          <a:xfrm>
            <a:off x="365760" y="1655064"/>
            <a:ext cx="1737360" cy="512064"/>
          </a:xfrm>
          <a:prstGeom prst="rect">
            <a:avLst/>
          </a:prstGeom>
          <a:solidFill>
            <a:srgbClr val="28A087"/>
          </a:solidFill>
          <a:ln w="12700">
            <a:solidFill>
              <a:srgbClr val="28A087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365760" y="1655064"/>
            <a:ext cx="1737360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Tkinter + ttk</a:t>
            </a:r>
            <a:endParaRPr lang="en-US" sz="1200" dirty="0"/>
          </a:p>
        </p:txBody>
      </p:sp>
      <p:sp>
        <p:nvSpPr>
          <p:cNvPr id="12" name="Text 10"/>
          <p:cNvSpPr/>
          <p:nvPr/>
        </p:nvSpPr>
        <p:spPr>
          <a:xfrm>
            <a:off x="2240280" y="1709928"/>
            <a:ext cx="640080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2D374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Interfaz gráfica: Notebook, Combobox, Treeview, Scrollbar, DateEntry.</a:t>
            </a:r>
            <a:endParaRPr lang="en-US" sz="1200" dirty="0"/>
          </a:p>
        </p:txBody>
      </p:sp>
      <p:sp>
        <p:nvSpPr>
          <p:cNvPr id="13" name="Shape 11"/>
          <p:cNvSpPr/>
          <p:nvPr/>
        </p:nvSpPr>
        <p:spPr>
          <a:xfrm>
            <a:off x="365760" y="2231136"/>
            <a:ext cx="8412480" cy="512064"/>
          </a:xfrm>
          <a:prstGeom prst="rect">
            <a:avLst/>
          </a:prstGeom>
          <a:solidFill>
            <a:srgbClr val="FFFFFF"/>
          </a:solidFill>
          <a:ln w="12700">
            <a:solidFill>
              <a:srgbClr val="E0E0E0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0000"/>
              </a:srgbClr>
            </a:outerShdw>
          </a:effectLst>
        </p:spPr>
      </p:sp>
      <p:sp>
        <p:nvSpPr>
          <p:cNvPr id="14" name="Shape 12"/>
          <p:cNvSpPr/>
          <p:nvPr/>
        </p:nvSpPr>
        <p:spPr>
          <a:xfrm>
            <a:off x="365760" y="2231136"/>
            <a:ext cx="1737360" cy="512064"/>
          </a:xfrm>
          <a:prstGeom prst="rect">
            <a:avLst/>
          </a:prstGeom>
          <a:solidFill>
            <a:srgbClr val="8E44AD"/>
          </a:solidFill>
          <a:ln w="12700">
            <a:solidFill>
              <a:srgbClr val="8E44AD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365760" y="2231136"/>
            <a:ext cx="1737360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tkcalendar</a:t>
            </a:r>
            <a:endParaRPr lang="en-US" sz="1200" dirty="0"/>
          </a:p>
        </p:txBody>
      </p:sp>
      <p:sp>
        <p:nvSpPr>
          <p:cNvPr id="16" name="Text 14"/>
          <p:cNvSpPr/>
          <p:nvPr/>
        </p:nvSpPr>
        <p:spPr>
          <a:xfrm>
            <a:off x="2240280" y="2286000"/>
            <a:ext cx="640080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2D374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Selector de fechas con calendario flotante en todos los campos de tipo fecha.</a:t>
            </a:r>
            <a:endParaRPr lang="en-US" sz="1200" dirty="0"/>
          </a:p>
        </p:txBody>
      </p:sp>
      <p:sp>
        <p:nvSpPr>
          <p:cNvPr id="17" name="Shape 15"/>
          <p:cNvSpPr/>
          <p:nvPr/>
        </p:nvSpPr>
        <p:spPr>
          <a:xfrm>
            <a:off x="365760" y="2807208"/>
            <a:ext cx="8412480" cy="512064"/>
          </a:xfrm>
          <a:prstGeom prst="rect">
            <a:avLst/>
          </a:prstGeom>
          <a:solidFill>
            <a:srgbClr val="FFFFFF"/>
          </a:solidFill>
          <a:ln w="12700">
            <a:solidFill>
              <a:srgbClr val="E0E0E0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0000"/>
              </a:srgbClr>
            </a:outerShdw>
          </a:effectLst>
        </p:spPr>
      </p:sp>
      <p:sp>
        <p:nvSpPr>
          <p:cNvPr id="18" name="Shape 16"/>
          <p:cNvSpPr/>
          <p:nvPr/>
        </p:nvSpPr>
        <p:spPr>
          <a:xfrm>
            <a:off x="365760" y="2807208"/>
            <a:ext cx="1737360" cy="512064"/>
          </a:xfrm>
          <a:prstGeom prst="rect">
            <a:avLst/>
          </a:prstGeom>
          <a:solidFill>
            <a:srgbClr val="E67E22"/>
          </a:solidFill>
          <a:ln w="12700">
            <a:solidFill>
              <a:srgbClr val="E67E22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365760" y="2807208"/>
            <a:ext cx="1737360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SQLite3</a:t>
            </a:r>
            <a:endParaRPr lang="en-US" sz="1200" dirty="0"/>
          </a:p>
        </p:txBody>
      </p:sp>
      <p:sp>
        <p:nvSpPr>
          <p:cNvPr id="20" name="Text 18"/>
          <p:cNvSpPr/>
          <p:nvPr/>
        </p:nvSpPr>
        <p:spPr>
          <a:xfrm>
            <a:off x="2240280" y="2862072"/>
            <a:ext cx="640080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2D374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Base de datos local con tablas, VIEWs (stored procedures) y TRIGGERs automáticos.</a:t>
            </a:r>
            <a:endParaRPr lang="en-US" sz="1200" dirty="0"/>
          </a:p>
        </p:txBody>
      </p:sp>
      <p:sp>
        <p:nvSpPr>
          <p:cNvPr id="21" name="Shape 19"/>
          <p:cNvSpPr/>
          <p:nvPr/>
        </p:nvSpPr>
        <p:spPr>
          <a:xfrm>
            <a:off x="365760" y="3383280"/>
            <a:ext cx="8412480" cy="512064"/>
          </a:xfrm>
          <a:prstGeom prst="rect">
            <a:avLst/>
          </a:prstGeom>
          <a:solidFill>
            <a:srgbClr val="FFFFFF"/>
          </a:solidFill>
          <a:ln w="12700">
            <a:solidFill>
              <a:srgbClr val="E0E0E0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0000"/>
              </a:srgbClr>
            </a:outerShdw>
          </a:effectLst>
        </p:spPr>
      </p:sp>
      <p:sp>
        <p:nvSpPr>
          <p:cNvPr id="22" name="Shape 20"/>
          <p:cNvSpPr/>
          <p:nvPr/>
        </p:nvSpPr>
        <p:spPr>
          <a:xfrm>
            <a:off x="365760" y="3383280"/>
            <a:ext cx="1737360" cy="512064"/>
          </a:xfrm>
          <a:prstGeom prst="rect">
            <a:avLst/>
          </a:prstGeom>
          <a:solidFill>
            <a:srgbClr val="27AE60"/>
          </a:solidFill>
          <a:ln w="12700">
            <a:solidFill>
              <a:srgbClr val="27AE60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365760" y="3383280"/>
            <a:ext cx="1737360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openpyxl</a:t>
            </a:r>
            <a:endParaRPr lang="en-US" sz="1200" dirty="0"/>
          </a:p>
        </p:txBody>
      </p:sp>
      <p:sp>
        <p:nvSpPr>
          <p:cNvPr id="24" name="Text 22"/>
          <p:cNvSpPr/>
          <p:nvPr/>
        </p:nvSpPr>
        <p:spPr>
          <a:xfrm>
            <a:off x="2240280" y="3438144"/>
            <a:ext cx="640080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2D374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Exportación a Excel con estilos, encabezado del bufete y filtros aplicados.</a:t>
            </a:r>
            <a:endParaRPr lang="en-US" sz="1200" dirty="0"/>
          </a:p>
        </p:txBody>
      </p:sp>
      <p:sp>
        <p:nvSpPr>
          <p:cNvPr id="25" name="Shape 23"/>
          <p:cNvSpPr/>
          <p:nvPr/>
        </p:nvSpPr>
        <p:spPr>
          <a:xfrm>
            <a:off x="365760" y="3959352"/>
            <a:ext cx="8412480" cy="512064"/>
          </a:xfrm>
          <a:prstGeom prst="rect">
            <a:avLst/>
          </a:prstGeom>
          <a:solidFill>
            <a:srgbClr val="FFFFFF"/>
          </a:solidFill>
          <a:ln w="12700">
            <a:solidFill>
              <a:srgbClr val="E0E0E0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0000"/>
              </a:srgbClr>
            </a:outerShdw>
          </a:effectLst>
        </p:spPr>
      </p:sp>
      <p:sp>
        <p:nvSpPr>
          <p:cNvPr id="26" name="Shape 24"/>
          <p:cNvSpPr/>
          <p:nvPr/>
        </p:nvSpPr>
        <p:spPr>
          <a:xfrm>
            <a:off x="365760" y="3959352"/>
            <a:ext cx="1737360" cy="512064"/>
          </a:xfrm>
          <a:prstGeom prst="rect">
            <a:avLst/>
          </a:prstGeom>
          <a:solidFill>
            <a:srgbClr val="C0392B"/>
          </a:solidFill>
          <a:ln w="12700">
            <a:solidFill>
              <a:srgbClr val="C0392B"/>
            </a:solidFill>
            <a:prstDash val="solid"/>
          </a:ln>
        </p:spPr>
      </p:sp>
      <p:sp>
        <p:nvSpPr>
          <p:cNvPr id="27" name="Text 25"/>
          <p:cNvSpPr/>
          <p:nvPr/>
        </p:nvSpPr>
        <p:spPr>
          <a:xfrm>
            <a:off x="365760" y="3959352"/>
            <a:ext cx="1737360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reportlab</a:t>
            </a:r>
            <a:endParaRPr lang="en-US" sz="1200" dirty="0"/>
          </a:p>
        </p:txBody>
      </p:sp>
      <p:sp>
        <p:nvSpPr>
          <p:cNvPr id="28" name="Text 26"/>
          <p:cNvSpPr/>
          <p:nvPr/>
        </p:nvSpPr>
        <p:spPr>
          <a:xfrm>
            <a:off x="2240280" y="4014216"/>
            <a:ext cx="640080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2D374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Exportación a PDF institucional con tabla estilizada y filtros de búsqueda.</a:t>
            </a:r>
            <a:endParaRPr lang="en-US" sz="1200" dirty="0"/>
          </a:p>
        </p:txBody>
      </p:sp>
      <p:sp>
        <p:nvSpPr>
          <p:cNvPr id="29" name="Shape 27"/>
          <p:cNvSpPr/>
          <p:nvPr/>
        </p:nvSpPr>
        <p:spPr>
          <a:xfrm>
            <a:off x="365760" y="4535424"/>
            <a:ext cx="8412480" cy="512064"/>
          </a:xfrm>
          <a:prstGeom prst="rect">
            <a:avLst/>
          </a:prstGeom>
          <a:solidFill>
            <a:srgbClr val="FFFFFF"/>
          </a:solidFill>
          <a:ln w="12700">
            <a:solidFill>
              <a:srgbClr val="E0E0E0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0000"/>
              </a:srgbClr>
            </a:outerShdw>
          </a:effectLst>
        </p:spPr>
      </p:sp>
      <p:sp>
        <p:nvSpPr>
          <p:cNvPr id="30" name="Shape 28"/>
          <p:cNvSpPr/>
          <p:nvPr/>
        </p:nvSpPr>
        <p:spPr>
          <a:xfrm>
            <a:off x="365760" y="4535424"/>
            <a:ext cx="1737360" cy="512064"/>
          </a:xfrm>
          <a:prstGeom prst="rect">
            <a:avLst/>
          </a:prstGeom>
          <a:solidFill>
            <a:srgbClr val="2980B9"/>
          </a:solidFill>
          <a:ln w="12700">
            <a:solidFill>
              <a:srgbClr val="2980B9"/>
            </a:solidFill>
            <a:prstDash val="solid"/>
          </a:ln>
        </p:spPr>
      </p:sp>
      <p:sp>
        <p:nvSpPr>
          <p:cNvPr id="31" name="Text 29"/>
          <p:cNvSpPr/>
          <p:nvPr/>
        </p:nvSpPr>
        <p:spPr>
          <a:xfrm>
            <a:off x="365760" y="4535424"/>
            <a:ext cx="1737360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Pillow (PIL)</a:t>
            </a:r>
            <a:endParaRPr lang="en-US" sz="1200" dirty="0"/>
          </a:p>
        </p:txBody>
      </p:sp>
      <p:sp>
        <p:nvSpPr>
          <p:cNvPr id="32" name="Text 30"/>
          <p:cNvSpPr/>
          <p:nvPr/>
        </p:nvSpPr>
        <p:spPr>
          <a:xfrm>
            <a:off x="2240280" y="4590288"/>
            <a:ext cx="640080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2D374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Fotos de clientes y abogados: validación de formato/tamaño, redimensionamiento y favicon.</a:t>
            </a:r>
            <a:endParaRPr lang="en-US" sz="12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EEF1F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960120"/>
          </a:xfrm>
          <a:prstGeom prst="rect">
            <a:avLst/>
          </a:prstGeom>
          <a:solidFill>
            <a:srgbClr val="1E2761"/>
          </a:solidFill>
          <a:ln w="12700">
            <a:solidFill>
              <a:srgbClr val="1E2761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0"/>
            <a:ext cx="164592" cy="5143500"/>
          </a:xfrm>
          <a:prstGeom prst="rect">
            <a:avLst/>
          </a:prstGeom>
          <a:solidFill>
            <a:srgbClr val="C9A84C"/>
          </a:solidFill>
          <a:ln w="12700">
            <a:solidFill>
              <a:srgbClr val="C9A84C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365760" y="91440"/>
            <a:ext cx="841248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ARQUITECTURA DEL SISTEMA</a:t>
            </a:r>
            <a:endParaRPr lang="en-US" sz="2600" dirty="0"/>
          </a:p>
        </p:txBody>
      </p:sp>
      <p:sp>
        <p:nvSpPr>
          <p:cNvPr id="5" name="Shape 3"/>
          <p:cNvSpPr/>
          <p:nvPr/>
        </p:nvSpPr>
        <p:spPr>
          <a:xfrm>
            <a:off x="320040" y="1097280"/>
            <a:ext cx="2926080" cy="3749040"/>
          </a:xfrm>
          <a:prstGeom prst="rect">
            <a:avLst/>
          </a:prstGeom>
          <a:solidFill>
            <a:srgbClr val="FFFFFF"/>
          </a:solidFill>
          <a:ln w="12700">
            <a:solidFill>
              <a:srgbClr val="E0E0E0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0000"/>
              </a:srgbClr>
            </a:outerShdw>
          </a:effectLst>
        </p:spPr>
      </p:sp>
      <p:sp>
        <p:nvSpPr>
          <p:cNvPr id="6" name="Shape 4"/>
          <p:cNvSpPr/>
          <p:nvPr/>
        </p:nvSpPr>
        <p:spPr>
          <a:xfrm>
            <a:off x="320040" y="1097280"/>
            <a:ext cx="2926080" cy="438912"/>
          </a:xfrm>
          <a:prstGeom prst="rect">
            <a:avLst/>
          </a:prstGeom>
          <a:solidFill>
            <a:srgbClr val="1E2761"/>
          </a:solidFill>
          <a:ln w="12700">
            <a:solidFill>
              <a:srgbClr val="1E2761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320040" y="1097280"/>
            <a:ext cx="292608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C9A84C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ESTRUCTURA DE CARPETAS</a:t>
            </a:r>
            <a:endParaRPr lang="en-US" sz="1100" dirty="0"/>
          </a:p>
        </p:txBody>
      </p:sp>
      <p:sp>
        <p:nvSpPr>
          <p:cNvPr id="8" name="Shape 6"/>
          <p:cNvSpPr/>
          <p:nvPr/>
        </p:nvSpPr>
        <p:spPr>
          <a:xfrm>
            <a:off x="384048" y="1627632"/>
            <a:ext cx="54864" cy="256032"/>
          </a:xfrm>
          <a:prstGeom prst="rect">
            <a:avLst/>
          </a:prstGeom>
          <a:solidFill>
            <a:srgbClr val="C9A84C"/>
          </a:solidFill>
          <a:ln w="12700">
            <a:solidFill>
              <a:srgbClr val="C9A84C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502920" y="1627632"/>
            <a:ext cx="16459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2D374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main.py</a:t>
            </a:r>
            <a:endParaRPr lang="en-US" sz="950" dirty="0"/>
          </a:p>
        </p:txBody>
      </p:sp>
      <p:sp>
        <p:nvSpPr>
          <p:cNvPr id="10" name="Text 8"/>
          <p:cNvSpPr/>
          <p:nvPr/>
        </p:nvSpPr>
        <p:spPr>
          <a:xfrm>
            <a:off x="2176272" y="1627632"/>
            <a:ext cx="9144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← Interfaz y control</a:t>
            </a:r>
            <a:endParaRPr lang="en-US" sz="900" dirty="0"/>
          </a:p>
        </p:txBody>
      </p:sp>
      <p:sp>
        <p:nvSpPr>
          <p:cNvPr id="11" name="Shape 9"/>
          <p:cNvSpPr/>
          <p:nvPr/>
        </p:nvSpPr>
        <p:spPr>
          <a:xfrm>
            <a:off x="384048" y="1975104"/>
            <a:ext cx="54864" cy="256032"/>
          </a:xfrm>
          <a:prstGeom prst="rect">
            <a:avLst/>
          </a:prstGeom>
          <a:solidFill>
            <a:srgbClr val="28A087"/>
          </a:solidFill>
          <a:ln w="12700">
            <a:solidFill>
              <a:srgbClr val="28A087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502920" y="1975104"/>
            <a:ext cx="16459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2D374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models/database.py</a:t>
            </a:r>
            <a:endParaRPr lang="en-US" sz="950" dirty="0"/>
          </a:p>
        </p:txBody>
      </p:sp>
      <p:sp>
        <p:nvSpPr>
          <p:cNvPr id="13" name="Text 11"/>
          <p:cNvSpPr/>
          <p:nvPr/>
        </p:nvSpPr>
        <p:spPr>
          <a:xfrm>
            <a:off x="2176272" y="1975104"/>
            <a:ext cx="9144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← BD + consultas</a:t>
            </a:r>
            <a:endParaRPr lang="en-US" sz="900" dirty="0"/>
          </a:p>
        </p:txBody>
      </p:sp>
      <p:sp>
        <p:nvSpPr>
          <p:cNvPr id="14" name="Shape 12"/>
          <p:cNvSpPr/>
          <p:nvPr/>
        </p:nvSpPr>
        <p:spPr>
          <a:xfrm>
            <a:off x="384048" y="2322576"/>
            <a:ext cx="54864" cy="256032"/>
          </a:xfrm>
          <a:prstGeom prst="rect">
            <a:avLst/>
          </a:prstGeom>
          <a:solidFill>
            <a:srgbClr val="8E44AD"/>
          </a:solidFill>
          <a:ln w="12700">
            <a:solidFill>
              <a:srgbClr val="8E44AD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502920" y="2322576"/>
            <a:ext cx="16459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2D374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utils/validators.py</a:t>
            </a:r>
            <a:endParaRPr lang="en-US" sz="950" dirty="0"/>
          </a:p>
        </p:txBody>
      </p:sp>
      <p:sp>
        <p:nvSpPr>
          <p:cNvPr id="16" name="Text 14"/>
          <p:cNvSpPr/>
          <p:nvPr/>
        </p:nvSpPr>
        <p:spPr>
          <a:xfrm>
            <a:off x="2176272" y="2322576"/>
            <a:ext cx="9144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← Validaciones</a:t>
            </a:r>
            <a:endParaRPr lang="en-US" sz="900" dirty="0"/>
          </a:p>
        </p:txBody>
      </p:sp>
      <p:sp>
        <p:nvSpPr>
          <p:cNvPr id="17" name="Shape 15"/>
          <p:cNvSpPr/>
          <p:nvPr/>
        </p:nvSpPr>
        <p:spPr>
          <a:xfrm>
            <a:off x="384048" y="2670048"/>
            <a:ext cx="54864" cy="256032"/>
          </a:xfrm>
          <a:prstGeom prst="rect">
            <a:avLst/>
          </a:prstGeom>
          <a:solidFill>
            <a:srgbClr val="27AE60"/>
          </a:solidFill>
          <a:ln w="12700">
            <a:solidFill>
              <a:srgbClr val="27AE60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502920" y="2670048"/>
            <a:ext cx="16459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2D374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utils/exportar.py</a:t>
            </a:r>
            <a:endParaRPr lang="en-US" sz="950" dirty="0"/>
          </a:p>
        </p:txBody>
      </p:sp>
      <p:sp>
        <p:nvSpPr>
          <p:cNvPr id="19" name="Text 17"/>
          <p:cNvSpPr/>
          <p:nvPr/>
        </p:nvSpPr>
        <p:spPr>
          <a:xfrm>
            <a:off x="2176272" y="2670048"/>
            <a:ext cx="9144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← Excel + PDF</a:t>
            </a:r>
            <a:endParaRPr lang="en-US" sz="900" dirty="0"/>
          </a:p>
        </p:txBody>
      </p:sp>
      <p:sp>
        <p:nvSpPr>
          <p:cNvPr id="20" name="Shape 18"/>
          <p:cNvSpPr/>
          <p:nvPr/>
        </p:nvSpPr>
        <p:spPr>
          <a:xfrm>
            <a:off x="384048" y="3017520"/>
            <a:ext cx="54864" cy="256032"/>
          </a:xfrm>
          <a:prstGeom prst="rect">
            <a:avLst/>
          </a:prstGeom>
          <a:solidFill>
            <a:srgbClr val="E67E22"/>
          </a:solidFill>
          <a:ln w="12700">
            <a:solidFill>
              <a:srgbClr val="E67E22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502920" y="3017520"/>
            <a:ext cx="16459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2D374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utils/temas.py</a:t>
            </a:r>
            <a:endParaRPr lang="en-US" sz="950" dirty="0"/>
          </a:p>
        </p:txBody>
      </p:sp>
      <p:sp>
        <p:nvSpPr>
          <p:cNvPr id="22" name="Text 20"/>
          <p:cNvSpPr/>
          <p:nvPr/>
        </p:nvSpPr>
        <p:spPr>
          <a:xfrm>
            <a:off x="2176272" y="3017520"/>
            <a:ext cx="9144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← Claro / Oscuro</a:t>
            </a:r>
            <a:endParaRPr lang="en-US" sz="900" dirty="0"/>
          </a:p>
        </p:txBody>
      </p:sp>
      <p:sp>
        <p:nvSpPr>
          <p:cNvPr id="23" name="Shape 21"/>
          <p:cNvSpPr/>
          <p:nvPr/>
        </p:nvSpPr>
        <p:spPr>
          <a:xfrm>
            <a:off x="384048" y="3364992"/>
            <a:ext cx="54864" cy="256032"/>
          </a:xfrm>
          <a:prstGeom prst="rect">
            <a:avLst/>
          </a:prstGeom>
          <a:solidFill>
            <a:srgbClr val="2980B9"/>
          </a:solidFill>
          <a:ln w="12700">
            <a:solidFill>
              <a:srgbClr val="2980B9"/>
            </a:solidFill>
            <a:prstDash val="solid"/>
          </a:ln>
        </p:spPr>
      </p:sp>
      <p:sp>
        <p:nvSpPr>
          <p:cNvPr id="24" name="Text 22"/>
          <p:cNvSpPr/>
          <p:nvPr/>
        </p:nvSpPr>
        <p:spPr>
          <a:xfrm>
            <a:off x="502920" y="3364992"/>
            <a:ext cx="16459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2D374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utils/favicon.py</a:t>
            </a:r>
            <a:endParaRPr lang="en-US" sz="950" dirty="0"/>
          </a:p>
        </p:txBody>
      </p:sp>
      <p:sp>
        <p:nvSpPr>
          <p:cNvPr id="25" name="Text 23"/>
          <p:cNvSpPr/>
          <p:nvPr/>
        </p:nvSpPr>
        <p:spPr>
          <a:xfrm>
            <a:off x="2176272" y="3364992"/>
            <a:ext cx="9144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← Icono + imágenes</a:t>
            </a:r>
            <a:endParaRPr lang="en-US" sz="900" dirty="0"/>
          </a:p>
        </p:txBody>
      </p:sp>
      <p:sp>
        <p:nvSpPr>
          <p:cNvPr id="26" name="Shape 24"/>
          <p:cNvSpPr/>
          <p:nvPr/>
        </p:nvSpPr>
        <p:spPr>
          <a:xfrm>
            <a:off x="384048" y="3712464"/>
            <a:ext cx="54864" cy="256032"/>
          </a:xfrm>
          <a:prstGeom prst="rect">
            <a:avLst/>
          </a:prstGeom>
          <a:solidFill>
            <a:srgbClr val="C0392B"/>
          </a:solidFill>
          <a:ln w="12700">
            <a:solidFill>
              <a:srgbClr val="C0392B"/>
            </a:solidFill>
            <a:prstDash val="solid"/>
          </a:ln>
        </p:spPr>
      </p:sp>
      <p:sp>
        <p:nvSpPr>
          <p:cNvPr id="27" name="Text 25"/>
          <p:cNvSpPr/>
          <p:nvPr/>
        </p:nvSpPr>
        <p:spPr>
          <a:xfrm>
            <a:off x="502920" y="3712464"/>
            <a:ext cx="16459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2D374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init.sql</a:t>
            </a:r>
            <a:endParaRPr lang="en-US" sz="950" dirty="0"/>
          </a:p>
        </p:txBody>
      </p:sp>
      <p:sp>
        <p:nvSpPr>
          <p:cNvPr id="28" name="Text 26"/>
          <p:cNvSpPr/>
          <p:nvPr/>
        </p:nvSpPr>
        <p:spPr>
          <a:xfrm>
            <a:off x="2176272" y="3712464"/>
            <a:ext cx="9144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← Base de datos</a:t>
            </a:r>
            <a:endParaRPr lang="en-US" sz="900" dirty="0"/>
          </a:p>
        </p:txBody>
      </p:sp>
      <p:sp>
        <p:nvSpPr>
          <p:cNvPr id="29" name="Shape 27"/>
          <p:cNvSpPr/>
          <p:nvPr/>
        </p:nvSpPr>
        <p:spPr>
          <a:xfrm>
            <a:off x="384048" y="4059936"/>
            <a:ext cx="54864" cy="256032"/>
          </a:xfrm>
          <a:prstGeom prst="rect">
            <a:avLst/>
          </a:prstGeom>
          <a:solidFill>
            <a:srgbClr val="64748B"/>
          </a:solidFill>
          <a:ln w="12700">
            <a:solidFill>
              <a:srgbClr val="64748B"/>
            </a:solidFill>
            <a:prstDash val="solid"/>
          </a:ln>
        </p:spPr>
      </p:sp>
      <p:sp>
        <p:nvSpPr>
          <p:cNvPr id="30" name="Text 28"/>
          <p:cNvSpPr/>
          <p:nvPr/>
        </p:nvSpPr>
        <p:spPr>
          <a:xfrm>
            <a:off x="502920" y="4059936"/>
            <a:ext cx="16459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2D374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requirements.txt</a:t>
            </a:r>
            <a:endParaRPr lang="en-US" sz="950" dirty="0"/>
          </a:p>
        </p:txBody>
      </p:sp>
      <p:sp>
        <p:nvSpPr>
          <p:cNvPr id="31" name="Text 29"/>
          <p:cNvSpPr/>
          <p:nvPr/>
        </p:nvSpPr>
        <p:spPr>
          <a:xfrm>
            <a:off x="2176272" y="4059936"/>
            <a:ext cx="9144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← Dependencias</a:t>
            </a:r>
            <a:endParaRPr lang="en-US" sz="900" dirty="0"/>
          </a:p>
        </p:txBody>
      </p:sp>
      <p:sp>
        <p:nvSpPr>
          <p:cNvPr id="32" name="Shape 30"/>
          <p:cNvSpPr/>
          <p:nvPr/>
        </p:nvSpPr>
        <p:spPr>
          <a:xfrm>
            <a:off x="3429000" y="1097280"/>
            <a:ext cx="2560320" cy="3749040"/>
          </a:xfrm>
          <a:prstGeom prst="rect">
            <a:avLst/>
          </a:prstGeom>
          <a:solidFill>
            <a:srgbClr val="FFFFFF"/>
          </a:solidFill>
          <a:ln w="12700">
            <a:solidFill>
              <a:srgbClr val="E0E0E0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0000"/>
              </a:srgbClr>
            </a:outerShdw>
          </a:effectLst>
        </p:spPr>
      </p:sp>
      <p:sp>
        <p:nvSpPr>
          <p:cNvPr id="33" name="Shape 31"/>
          <p:cNvSpPr/>
          <p:nvPr/>
        </p:nvSpPr>
        <p:spPr>
          <a:xfrm>
            <a:off x="3429000" y="1097280"/>
            <a:ext cx="2560320" cy="438912"/>
          </a:xfrm>
          <a:prstGeom prst="rect">
            <a:avLst/>
          </a:prstGeom>
          <a:solidFill>
            <a:srgbClr val="28A087"/>
          </a:solidFill>
          <a:ln w="12700">
            <a:solidFill>
              <a:srgbClr val="28A087"/>
            </a:solidFill>
            <a:prstDash val="solid"/>
          </a:ln>
        </p:spPr>
      </p:sp>
      <p:sp>
        <p:nvSpPr>
          <p:cNvPr id="34" name="Text 32"/>
          <p:cNvSpPr/>
          <p:nvPr/>
        </p:nvSpPr>
        <p:spPr>
          <a:xfrm>
            <a:off x="3429000" y="1097280"/>
            <a:ext cx="256032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FLUJO DE DATOS</a:t>
            </a:r>
            <a:endParaRPr lang="en-US" sz="1100" dirty="0"/>
          </a:p>
        </p:txBody>
      </p:sp>
      <p:sp>
        <p:nvSpPr>
          <p:cNvPr id="35" name="Shape 33"/>
          <p:cNvSpPr/>
          <p:nvPr/>
        </p:nvSpPr>
        <p:spPr>
          <a:xfrm>
            <a:off x="3566160" y="1627632"/>
            <a:ext cx="2286000" cy="393192"/>
          </a:xfrm>
          <a:prstGeom prst="rect">
            <a:avLst/>
          </a:prstGeom>
          <a:solidFill>
            <a:srgbClr val="EEF1F8"/>
          </a:solidFill>
          <a:ln w="12700">
            <a:solidFill>
              <a:srgbClr val="DDDDDD"/>
            </a:solidFill>
            <a:prstDash val="solid"/>
          </a:ln>
        </p:spPr>
      </p:sp>
      <p:sp>
        <p:nvSpPr>
          <p:cNvPr id="36" name="Text 34"/>
          <p:cNvSpPr/>
          <p:nvPr/>
        </p:nvSpPr>
        <p:spPr>
          <a:xfrm>
            <a:off x="3611880" y="1645920"/>
            <a:ext cx="21945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2D374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1. Usuario ingresa datos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2D374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 el formulario</a:t>
            </a:r>
            <a:endParaRPr lang="en-US" sz="1000" dirty="0"/>
          </a:p>
        </p:txBody>
      </p:sp>
      <p:sp>
        <p:nvSpPr>
          <p:cNvPr id="37" name="Shape 35"/>
          <p:cNvSpPr/>
          <p:nvPr/>
        </p:nvSpPr>
        <p:spPr>
          <a:xfrm>
            <a:off x="3566160" y="2112264"/>
            <a:ext cx="2286000" cy="393192"/>
          </a:xfrm>
          <a:prstGeom prst="rect">
            <a:avLst/>
          </a:prstGeom>
          <a:solidFill>
            <a:srgbClr val="FFFFFF"/>
          </a:solidFill>
          <a:ln w="12700">
            <a:solidFill>
              <a:srgbClr val="DDDDDD"/>
            </a:solidFill>
            <a:prstDash val="solid"/>
          </a:ln>
        </p:spPr>
      </p:sp>
      <p:sp>
        <p:nvSpPr>
          <p:cNvPr id="38" name="Text 36"/>
          <p:cNvSpPr/>
          <p:nvPr/>
        </p:nvSpPr>
        <p:spPr>
          <a:xfrm>
            <a:off x="3611880" y="2130552"/>
            <a:ext cx="21945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2D374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2. validators.py valida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2D374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campos y formatos</a:t>
            </a:r>
            <a:endParaRPr lang="en-US" sz="1000" dirty="0"/>
          </a:p>
        </p:txBody>
      </p:sp>
      <p:sp>
        <p:nvSpPr>
          <p:cNvPr id="39" name="Shape 37"/>
          <p:cNvSpPr/>
          <p:nvPr/>
        </p:nvSpPr>
        <p:spPr>
          <a:xfrm>
            <a:off x="3566160" y="2596896"/>
            <a:ext cx="2286000" cy="393192"/>
          </a:xfrm>
          <a:prstGeom prst="rect">
            <a:avLst/>
          </a:prstGeom>
          <a:solidFill>
            <a:srgbClr val="EEF1F8"/>
          </a:solidFill>
          <a:ln w="12700">
            <a:solidFill>
              <a:srgbClr val="DDDDDD"/>
            </a:solidFill>
            <a:prstDash val="solid"/>
          </a:ln>
        </p:spPr>
      </p:sp>
      <p:sp>
        <p:nvSpPr>
          <p:cNvPr id="40" name="Text 38"/>
          <p:cNvSpPr/>
          <p:nvPr/>
        </p:nvSpPr>
        <p:spPr>
          <a:xfrm>
            <a:off x="3611880" y="2615184"/>
            <a:ext cx="21945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2D374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3. database.py ejecuta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2D374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stored procedure SQL</a:t>
            </a:r>
            <a:endParaRPr lang="en-US" sz="1000" dirty="0"/>
          </a:p>
        </p:txBody>
      </p:sp>
      <p:sp>
        <p:nvSpPr>
          <p:cNvPr id="41" name="Shape 39"/>
          <p:cNvSpPr/>
          <p:nvPr/>
        </p:nvSpPr>
        <p:spPr>
          <a:xfrm>
            <a:off x="3566160" y="3081528"/>
            <a:ext cx="2286000" cy="393192"/>
          </a:xfrm>
          <a:prstGeom prst="rect">
            <a:avLst/>
          </a:prstGeom>
          <a:solidFill>
            <a:srgbClr val="FFFFFF"/>
          </a:solidFill>
          <a:ln w="12700">
            <a:solidFill>
              <a:srgbClr val="DDDDDD"/>
            </a:solidFill>
            <a:prstDash val="solid"/>
          </a:ln>
        </p:spPr>
      </p:sp>
      <p:sp>
        <p:nvSpPr>
          <p:cNvPr id="42" name="Text 40"/>
          <p:cNvSpPr/>
          <p:nvPr/>
        </p:nvSpPr>
        <p:spPr>
          <a:xfrm>
            <a:off x="3611880" y="3099816"/>
            <a:ext cx="21945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2D374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4. SQLite guarda/actualiza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2D374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 lawfirm.db</a:t>
            </a:r>
            <a:endParaRPr lang="en-US" sz="1000" dirty="0"/>
          </a:p>
        </p:txBody>
      </p:sp>
      <p:sp>
        <p:nvSpPr>
          <p:cNvPr id="43" name="Shape 41"/>
          <p:cNvSpPr/>
          <p:nvPr/>
        </p:nvSpPr>
        <p:spPr>
          <a:xfrm>
            <a:off x="3566160" y="3566160"/>
            <a:ext cx="2286000" cy="393192"/>
          </a:xfrm>
          <a:prstGeom prst="rect">
            <a:avLst/>
          </a:prstGeom>
          <a:solidFill>
            <a:srgbClr val="EEF1F8"/>
          </a:solidFill>
          <a:ln w="12700">
            <a:solidFill>
              <a:srgbClr val="DDDDDD"/>
            </a:solidFill>
            <a:prstDash val="solid"/>
          </a:ln>
        </p:spPr>
      </p:sp>
      <p:sp>
        <p:nvSpPr>
          <p:cNvPr id="44" name="Text 42"/>
          <p:cNvSpPr/>
          <p:nvPr/>
        </p:nvSpPr>
        <p:spPr>
          <a:xfrm>
            <a:off x="3611880" y="3584448"/>
            <a:ext cx="21945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2D374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5. Treeview se refresca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2D374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 los nuevos datos</a:t>
            </a:r>
            <a:endParaRPr lang="en-US" sz="1000" dirty="0"/>
          </a:p>
        </p:txBody>
      </p:sp>
      <p:sp>
        <p:nvSpPr>
          <p:cNvPr id="45" name="Shape 43"/>
          <p:cNvSpPr/>
          <p:nvPr/>
        </p:nvSpPr>
        <p:spPr>
          <a:xfrm>
            <a:off x="3566160" y="4050792"/>
            <a:ext cx="2286000" cy="393192"/>
          </a:xfrm>
          <a:prstGeom prst="rect">
            <a:avLst/>
          </a:prstGeom>
          <a:solidFill>
            <a:srgbClr val="FFFFFF"/>
          </a:solidFill>
          <a:ln w="12700">
            <a:solidFill>
              <a:srgbClr val="DDDDDD"/>
            </a:solidFill>
            <a:prstDash val="solid"/>
          </a:ln>
        </p:spPr>
      </p:sp>
      <p:sp>
        <p:nvSpPr>
          <p:cNvPr id="46" name="Text 44"/>
          <p:cNvSpPr/>
          <p:nvPr/>
        </p:nvSpPr>
        <p:spPr>
          <a:xfrm>
            <a:off x="3611880" y="4069080"/>
            <a:ext cx="21945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2D374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6. exportar.py genera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2D374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Excel o PDF</a:t>
            </a:r>
            <a:endParaRPr lang="en-US" sz="1000" dirty="0"/>
          </a:p>
        </p:txBody>
      </p:sp>
      <p:sp>
        <p:nvSpPr>
          <p:cNvPr id="47" name="Shape 45"/>
          <p:cNvSpPr/>
          <p:nvPr/>
        </p:nvSpPr>
        <p:spPr>
          <a:xfrm>
            <a:off x="6172200" y="1097280"/>
            <a:ext cx="2651760" cy="3749040"/>
          </a:xfrm>
          <a:prstGeom prst="rect">
            <a:avLst/>
          </a:prstGeom>
          <a:solidFill>
            <a:srgbClr val="FFFFFF"/>
          </a:solidFill>
          <a:ln w="12700">
            <a:solidFill>
              <a:srgbClr val="E0E0E0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0000"/>
              </a:srgbClr>
            </a:outerShdw>
          </a:effectLst>
        </p:spPr>
      </p:sp>
      <p:sp>
        <p:nvSpPr>
          <p:cNvPr id="48" name="Shape 46"/>
          <p:cNvSpPr/>
          <p:nvPr/>
        </p:nvSpPr>
        <p:spPr>
          <a:xfrm>
            <a:off x="6172200" y="1097280"/>
            <a:ext cx="2651760" cy="438912"/>
          </a:xfrm>
          <a:prstGeom prst="rect">
            <a:avLst/>
          </a:prstGeom>
          <a:solidFill>
            <a:srgbClr val="E67E22"/>
          </a:solidFill>
          <a:ln w="12700">
            <a:solidFill>
              <a:srgbClr val="E67E22"/>
            </a:solidFill>
            <a:prstDash val="solid"/>
          </a:ln>
        </p:spPr>
      </p:sp>
      <p:sp>
        <p:nvSpPr>
          <p:cNvPr id="49" name="Text 47"/>
          <p:cNvSpPr/>
          <p:nvPr/>
        </p:nvSpPr>
        <p:spPr>
          <a:xfrm>
            <a:off x="6172200" y="1097280"/>
            <a:ext cx="265176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BASE DE DATOS</a:t>
            </a:r>
            <a:endParaRPr lang="en-US" sz="1100" dirty="0"/>
          </a:p>
        </p:txBody>
      </p:sp>
      <p:sp>
        <p:nvSpPr>
          <p:cNvPr id="50" name="Shape 48"/>
          <p:cNvSpPr/>
          <p:nvPr/>
        </p:nvSpPr>
        <p:spPr>
          <a:xfrm>
            <a:off x="6236208" y="1664208"/>
            <a:ext cx="566928" cy="201168"/>
          </a:xfrm>
          <a:prstGeom prst="rect">
            <a:avLst/>
          </a:prstGeom>
          <a:solidFill>
            <a:srgbClr val="1E2761"/>
          </a:solidFill>
          <a:ln w="12700">
            <a:solidFill>
              <a:srgbClr val="1E2761"/>
            </a:solidFill>
            <a:prstDash val="solid"/>
          </a:ln>
        </p:spPr>
      </p:sp>
      <p:sp>
        <p:nvSpPr>
          <p:cNvPr id="51" name="Text 49"/>
          <p:cNvSpPr/>
          <p:nvPr/>
        </p:nvSpPr>
        <p:spPr>
          <a:xfrm>
            <a:off x="6236208" y="1664208"/>
            <a:ext cx="566928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Tabla</a:t>
            </a:r>
            <a:endParaRPr lang="en-US" sz="800" dirty="0"/>
          </a:p>
        </p:txBody>
      </p:sp>
      <p:sp>
        <p:nvSpPr>
          <p:cNvPr id="52" name="Text 50"/>
          <p:cNvSpPr/>
          <p:nvPr/>
        </p:nvSpPr>
        <p:spPr>
          <a:xfrm>
            <a:off x="6858000" y="1664208"/>
            <a:ext cx="18288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2D374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clientes</a:t>
            </a:r>
            <a:endParaRPr lang="en-US" sz="1000" dirty="0"/>
          </a:p>
        </p:txBody>
      </p:sp>
      <p:sp>
        <p:nvSpPr>
          <p:cNvPr id="53" name="Shape 51"/>
          <p:cNvSpPr/>
          <p:nvPr/>
        </p:nvSpPr>
        <p:spPr>
          <a:xfrm>
            <a:off x="6236208" y="2011680"/>
            <a:ext cx="566928" cy="201168"/>
          </a:xfrm>
          <a:prstGeom prst="rect">
            <a:avLst/>
          </a:prstGeom>
          <a:solidFill>
            <a:srgbClr val="1E2761"/>
          </a:solidFill>
          <a:ln w="12700">
            <a:solidFill>
              <a:srgbClr val="1E2761"/>
            </a:solidFill>
            <a:prstDash val="solid"/>
          </a:ln>
        </p:spPr>
      </p:sp>
      <p:sp>
        <p:nvSpPr>
          <p:cNvPr id="54" name="Text 52"/>
          <p:cNvSpPr/>
          <p:nvPr/>
        </p:nvSpPr>
        <p:spPr>
          <a:xfrm>
            <a:off x="6236208" y="2011680"/>
            <a:ext cx="566928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Tabla</a:t>
            </a:r>
            <a:endParaRPr lang="en-US" sz="800" dirty="0"/>
          </a:p>
        </p:txBody>
      </p:sp>
      <p:sp>
        <p:nvSpPr>
          <p:cNvPr id="55" name="Text 53"/>
          <p:cNvSpPr/>
          <p:nvPr/>
        </p:nvSpPr>
        <p:spPr>
          <a:xfrm>
            <a:off x="6858000" y="2011680"/>
            <a:ext cx="18288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2D374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abogados</a:t>
            </a:r>
            <a:endParaRPr lang="en-US" sz="1000" dirty="0"/>
          </a:p>
        </p:txBody>
      </p:sp>
      <p:sp>
        <p:nvSpPr>
          <p:cNvPr id="56" name="Shape 54"/>
          <p:cNvSpPr/>
          <p:nvPr/>
        </p:nvSpPr>
        <p:spPr>
          <a:xfrm>
            <a:off x="6236208" y="2359152"/>
            <a:ext cx="566928" cy="201168"/>
          </a:xfrm>
          <a:prstGeom prst="rect">
            <a:avLst/>
          </a:prstGeom>
          <a:solidFill>
            <a:srgbClr val="1E2761"/>
          </a:solidFill>
          <a:ln w="12700">
            <a:solidFill>
              <a:srgbClr val="1E2761"/>
            </a:solidFill>
            <a:prstDash val="solid"/>
          </a:ln>
        </p:spPr>
      </p:sp>
      <p:sp>
        <p:nvSpPr>
          <p:cNvPr id="57" name="Text 55"/>
          <p:cNvSpPr/>
          <p:nvPr/>
        </p:nvSpPr>
        <p:spPr>
          <a:xfrm>
            <a:off x="6236208" y="2359152"/>
            <a:ext cx="566928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Tabla</a:t>
            </a:r>
            <a:endParaRPr lang="en-US" sz="800" dirty="0"/>
          </a:p>
        </p:txBody>
      </p:sp>
      <p:sp>
        <p:nvSpPr>
          <p:cNvPr id="58" name="Text 56"/>
          <p:cNvSpPr/>
          <p:nvPr/>
        </p:nvSpPr>
        <p:spPr>
          <a:xfrm>
            <a:off x="6858000" y="2359152"/>
            <a:ext cx="18288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2D374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casos</a:t>
            </a:r>
            <a:endParaRPr lang="en-US" sz="1000" dirty="0"/>
          </a:p>
        </p:txBody>
      </p:sp>
      <p:sp>
        <p:nvSpPr>
          <p:cNvPr id="59" name="Shape 57"/>
          <p:cNvSpPr/>
          <p:nvPr/>
        </p:nvSpPr>
        <p:spPr>
          <a:xfrm>
            <a:off x="6236208" y="2706624"/>
            <a:ext cx="566928" cy="201168"/>
          </a:xfrm>
          <a:prstGeom prst="rect">
            <a:avLst/>
          </a:prstGeom>
          <a:solidFill>
            <a:srgbClr val="1E2761"/>
          </a:solidFill>
          <a:ln w="12700">
            <a:solidFill>
              <a:srgbClr val="1E2761"/>
            </a:solidFill>
            <a:prstDash val="solid"/>
          </a:ln>
        </p:spPr>
      </p:sp>
      <p:sp>
        <p:nvSpPr>
          <p:cNvPr id="60" name="Text 58"/>
          <p:cNvSpPr/>
          <p:nvPr/>
        </p:nvSpPr>
        <p:spPr>
          <a:xfrm>
            <a:off x="6236208" y="2706624"/>
            <a:ext cx="566928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Tabla</a:t>
            </a:r>
            <a:endParaRPr lang="en-US" sz="800" dirty="0"/>
          </a:p>
        </p:txBody>
      </p:sp>
      <p:sp>
        <p:nvSpPr>
          <p:cNvPr id="61" name="Text 59"/>
          <p:cNvSpPr/>
          <p:nvPr/>
        </p:nvSpPr>
        <p:spPr>
          <a:xfrm>
            <a:off x="6858000" y="2706624"/>
            <a:ext cx="18288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2D374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audiencias</a:t>
            </a:r>
            <a:endParaRPr lang="en-US" sz="1000" dirty="0"/>
          </a:p>
        </p:txBody>
      </p:sp>
      <p:sp>
        <p:nvSpPr>
          <p:cNvPr id="62" name="Shape 60"/>
          <p:cNvSpPr/>
          <p:nvPr/>
        </p:nvSpPr>
        <p:spPr>
          <a:xfrm>
            <a:off x="6236208" y="3054096"/>
            <a:ext cx="566928" cy="201168"/>
          </a:xfrm>
          <a:prstGeom prst="rect">
            <a:avLst/>
          </a:prstGeom>
          <a:solidFill>
            <a:srgbClr val="28A087"/>
          </a:solidFill>
          <a:ln w="12700">
            <a:solidFill>
              <a:srgbClr val="28A087"/>
            </a:solidFill>
            <a:prstDash val="solid"/>
          </a:ln>
        </p:spPr>
      </p:sp>
      <p:sp>
        <p:nvSpPr>
          <p:cNvPr id="63" name="Text 61"/>
          <p:cNvSpPr/>
          <p:nvPr/>
        </p:nvSpPr>
        <p:spPr>
          <a:xfrm>
            <a:off x="6236208" y="3054096"/>
            <a:ext cx="566928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VIEW</a:t>
            </a:r>
            <a:endParaRPr lang="en-US" sz="800" dirty="0"/>
          </a:p>
        </p:txBody>
      </p:sp>
      <p:sp>
        <p:nvSpPr>
          <p:cNvPr id="64" name="Text 62"/>
          <p:cNvSpPr/>
          <p:nvPr/>
        </p:nvSpPr>
        <p:spPr>
          <a:xfrm>
            <a:off x="6858000" y="3054096"/>
            <a:ext cx="18288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2D374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v_casos</a:t>
            </a:r>
            <a:endParaRPr lang="en-US" sz="1000" dirty="0"/>
          </a:p>
        </p:txBody>
      </p:sp>
      <p:sp>
        <p:nvSpPr>
          <p:cNvPr id="65" name="Shape 63"/>
          <p:cNvSpPr/>
          <p:nvPr/>
        </p:nvSpPr>
        <p:spPr>
          <a:xfrm>
            <a:off x="6236208" y="3401568"/>
            <a:ext cx="566928" cy="201168"/>
          </a:xfrm>
          <a:prstGeom prst="rect">
            <a:avLst/>
          </a:prstGeom>
          <a:solidFill>
            <a:srgbClr val="28A087"/>
          </a:solidFill>
          <a:ln w="12700">
            <a:solidFill>
              <a:srgbClr val="28A087"/>
            </a:solidFill>
            <a:prstDash val="solid"/>
          </a:ln>
        </p:spPr>
      </p:sp>
      <p:sp>
        <p:nvSpPr>
          <p:cNvPr id="66" name="Text 64"/>
          <p:cNvSpPr/>
          <p:nvPr/>
        </p:nvSpPr>
        <p:spPr>
          <a:xfrm>
            <a:off x="6236208" y="3401568"/>
            <a:ext cx="566928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VIEW</a:t>
            </a:r>
            <a:endParaRPr lang="en-US" sz="800" dirty="0"/>
          </a:p>
        </p:txBody>
      </p:sp>
      <p:sp>
        <p:nvSpPr>
          <p:cNvPr id="67" name="Text 65"/>
          <p:cNvSpPr/>
          <p:nvPr/>
        </p:nvSpPr>
        <p:spPr>
          <a:xfrm>
            <a:off x="6858000" y="3401568"/>
            <a:ext cx="18288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2D374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v_audiencias</a:t>
            </a:r>
            <a:endParaRPr lang="en-US" sz="1000" dirty="0"/>
          </a:p>
        </p:txBody>
      </p:sp>
      <p:sp>
        <p:nvSpPr>
          <p:cNvPr id="68" name="Shape 66"/>
          <p:cNvSpPr/>
          <p:nvPr/>
        </p:nvSpPr>
        <p:spPr>
          <a:xfrm>
            <a:off x="6236208" y="3749040"/>
            <a:ext cx="566928" cy="201168"/>
          </a:xfrm>
          <a:prstGeom prst="rect">
            <a:avLst/>
          </a:prstGeom>
          <a:solidFill>
            <a:srgbClr val="C0392B"/>
          </a:solidFill>
          <a:ln w="12700">
            <a:solidFill>
              <a:srgbClr val="C0392B"/>
            </a:solidFill>
            <a:prstDash val="solid"/>
          </a:ln>
        </p:spPr>
      </p:sp>
      <p:sp>
        <p:nvSpPr>
          <p:cNvPr id="69" name="Text 67"/>
          <p:cNvSpPr/>
          <p:nvPr/>
        </p:nvSpPr>
        <p:spPr>
          <a:xfrm>
            <a:off x="6236208" y="3749040"/>
            <a:ext cx="566928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TRIGGER</a:t>
            </a:r>
            <a:endParaRPr lang="en-US" sz="800" dirty="0"/>
          </a:p>
        </p:txBody>
      </p:sp>
      <p:sp>
        <p:nvSpPr>
          <p:cNvPr id="70" name="Text 68"/>
          <p:cNvSpPr/>
          <p:nvPr/>
        </p:nvSpPr>
        <p:spPr>
          <a:xfrm>
            <a:off x="6858000" y="3749040"/>
            <a:ext cx="18288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2D374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trg_delete_caso</a:t>
            </a:r>
            <a:endParaRPr lang="en-US" sz="1000" dirty="0"/>
          </a:p>
        </p:txBody>
      </p:sp>
      <p:sp>
        <p:nvSpPr>
          <p:cNvPr id="71" name="Shape 69"/>
          <p:cNvSpPr/>
          <p:nvPr/>
        </p:nvSpPr>
        <p:spPr>
          <a:xfrm>
            <a:off x="6236208" y="4096512"/>
            <a:ext cx="566928" cy="201168"/>
          </a:xfrm>
          <a:prstGeom prst="rect">
            <a:avLst/>
          </a:prstGeom>
          <a:solidFill>
            <a:srgbClr val="C0392B"/>
          </a:solidFill>
          <a:ln w="12700">
            <a:solidFill>
              <a:srgbClr val="C0392B"/>
            </a:solidFill>
            <a:prstDash val="solid"/>
          </a:ln>
        </p:spPr>
      </p:sp>
      <p:sp>
        <p:nvSpPr>
          <p:cNvPr id="72" name="Text 70"/>
          <p:cNvSpPr/>
          <p:nvPr/>
        </p:nvSpPr>
        <p:spPr>
          <a:xfrm>
            <a:off x="6236208" y="4096512"/>
            <a:ext cx="566928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TRIGGER</a:t>
            </a:r>
            <a:endParaRPr lang="en-US" sz="800" dirty="0"/>
          </a:p>
        </p:txBody>
      </p:sp>
      <p:sp>
        <p:nvSpPr>
          <p:cNvPr id="73" name="Text 71"/>
          <p:cNvSpPr/>
          <p:nvPr/>
        </p:nvSpPr>
        <p:spPr>
          <a:xfrm>
            <a:off x="6858000" y="4096512"/>
            <a:ext cx="18288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2D374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trg_delete_cliente</a:t>
            </a:r>
            <a:endParaRPr lang="en-US" sz="1000" dirty="0"/>
          </a:p>
        </p:txBody>
      </p:sp>
      <p:sp>
        <p:nvSpPr>
          <p:cNvPr id="74" name="Shape 72"/>
          <p:cNvSpPr/>
          <p:nvPr/>
        </p:nvSpPr>
        <p:spPr>
          <a:xfrm>
            <a:off x="6236208" y="4443984"/>
            <a:ext cx="566928" cy="201168"/>
          </a:xfrm>
          <a:prstGeom prst="rect">
            <a:avLst/>
          </a:prstGeom>
          <a:solidFill>
            <a:srgbClr val="8E44AD"/>
          </a:solidFill>
          <a:ln w="12700">
            <a:solidFill>
              <a:srgbClr val="8E44AD"/>
            </a:solidFill>
            <a:prstDash val="solid"/>
          </a:ln>
        </p:spPr>
      </p:sp>
      <p:sp>
        <p:nvSpPr>
          <p:cNvPr id="75" name="Text 73"/>
          <p:cNvSpPr/>
          <p:nvPr/>
        </p:nvSpPr>
        <p:spPr>
          <a:xfrm>
            <a:off x="6236208" y="4443984"/>
            <a:ext cx="566928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LOG</a:t>
            </a:r>
            <a:endParaRPr lang="en-US" sz="800" dirty="0"/>
          </a:p>
        </p:txBody>
      </p:sp>
      <p:sp>
        <p:nvSpPr>
          <p:cNvPr id="76" name="Text 74"/>
          <p:cNvSpPr/>
          <p:nvPr/>
        </p:nvSpPr>
        <p:spPr>
          <a:xfrm>
            <a:off x="6858000" y="4443984"/>
            <a:ext cx="18288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2D374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log_eliminados</a:t>
            </a:r>
            <a:endParaRPr lang="en-US" sz="10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EEF1F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960120"/>
          </a:xfrm>
          <a:prstGeom prst="rect">
            <a:avLst/>
          </a:prstGeom>
          <a:solidFill>
            <a:srgbClr val="1E2761"/>
          </a:solidFill>
          <a:ln w="12700">
            <a:solidFill>
              <a:srgbClr val="1E2761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0"/>
            <a:ext cx="164592" cy="5143500"/>
          </a:xfrm>
          <a:prstGeom prst="rect">
            <a:avLst/>
          </a:prstGeom>
          <a:solidFill>
            <a:srgbClr val="C9A84C"/>
          </a:solidFill>
          <a:ln w="12700">
            <a:solidFill>
              <a:srgbClr val="C9A84C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365760" y="91440"/>
            <a:ext cx="841248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LOS 4 MÓDULOS DEL SISTEMA</a:t>
            </a:r>
            <a:endParaRPr lang="en-US" sz="2600" dirty="0"/>
          </a:p>
        </p:txBody>
      </p:sp>
      <p:sp>
        <p:nvSpPr>
          <p:cNvPr id="5" name="Shape 3"/>
          <p:cNvSpPr/>
          <p:nvPr/>
        </p:nvSpPr>
        <p:spPr>
          <a:xfrm>
            <a:off x="320040" y="1097280"/>
            <a:ext cx="4206240" cy="1828800"/>
          </a:xfrm>
          <a:prstGeom prst="rect">
            <a:avLst/>
          </a:prstGeom>
          <a:solidFill>
            <a:srgbClr val="FFFFFF"/>
          </a:solidFill>
          <a:ln w="12700">
            <a:solidFill>
              <a:srgbClr val="E0E0E0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0000"/>
              </a:srgbClr>
            </a:outerShdw>
          </a:effectLst>
        </p:spPr>
      </p:sp>
      <p:sp>
        <p:nvSpPr>
          <p:cNvPr id="6" name="Shape 4"/>
          <p:cNvSpPr/>
          <p:nvPr/>
        </p:nvSpPr>
        <p:spPr>
          <a:xfrm>
            <a:off x="320040" y="1097280"/>
            <a:ext cx="594360" cy="1828800"/>
          </a:xfrm>
          <a:prstGeom prst="rect">
            <a:avLst/>
          </a:prstGeom>
          <a:solidFill>
            <a:srgbClr val="1E2761"/>
          </a:solidFill>
          <a:ln w="12700">
            <a:solidFill>
              <a:srgbClr val="1E2761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320040" y="1097280"/>
            <a:ext cx="594360" cy="1828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01</a:t>
            </a:r>
            <a:endParaRPr lang="en-US" sz="2000" dirty="0"/>
          </a:p>
        </p:txBody>
      </p:sp>
      <p:sp>
        <p:nvSpPr>
          <p:cNvPr id="8" name="Text 6"/>
          <p:cNvSpPr/>
          <p:nvPr/>
        </p:nvSpPr>
        <p:spPr>
          <a:xfrm>
            <a:off x="1005840" y="1188720"/>
            <a:ext cx="34290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E2761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CLIENTES</a:t>
            </a:r>
            <a:endParaRPr lang="en-US" sz="1300" dirty="0"/>
          </a:p>
        </p:txBody>
      </p:sp>
      <p:sp>
        <p:nvSpPr>
          <p:cNvPr id="9" name="Text 7"/>
          <p:cNvSpPr/>
          <p:nvPr/>
        </p:nvSpPr>
        <p:spPr>
          <a:xfrm>
            <a:off x="1005840" y="1572768"/>
            <a:ext cx="3429000" cy="12618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2D374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Campos: Código · Tipo (Combobox) · Nombre/Razón Social · Documento/RUC · Dirección · Teléfono · Correo (validado con regex) · Fecha Contacto (calendario) · Referido · Clasificación · Foto (Pillow)</a:t>
            </a:r>
            <a:endParaRPr lang="en-US" sz="1050" dirty="0"/>
          </a:p>
        </p:txBody>
      </p:sp>
      <p:sp>
        <p:nvSpPr>
          <p:cNvPr id="10" name="Shape 8"/>
          <p:cNvSpPr/>
          <p:nvPr/>
        </p:nvSpPr>
        <p:spPr>
          <a:xfrm>
            <a:off x="4800600" y="1097280"/>
            <a:ext cx="4206240" cy="1828800"/>
          </a:xfrm>
          <a:prstGeom prst="rect">
            <a:avLst/>
          </a:prstGeom>
          <a:solidFill>
            <a:srgbClr val="FFFFFF"/>
          </a:solidFill>
          <a:ln w="12700">
            <a:solidFill>
              <a:srgbClr val="E0E0E0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0000"/>
              </a:srgbClr>
            </a:outerShdw>
          </a:effectLst>
        </p:spPr>
      </p:sp>
      <p:sp>
        <p:nvSpPr>
          <p:cNvPr id="11" name="Shape 9"/>
          <p:cNvSpPr/>
          <p:nvPr/>
        </p:nvSpPr>
        <p:spPr>
          <a:xfrm>
            <a:off x="4800600" y="1097280"/>
            <a:ext cx="594360" cy="1828800"/>
          </a:xfrm>
          <a:prstGeom prst="rect">
            <a:avLst/>
          </a:prstGeom>
          <a:solidFill>
            <a:srgbClr val="28A087"/>
          </a:solidFill>
          <a:ln w="12700">
            <a:solidFill>
              <a:srgbClr val="28A087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4800600" y="1097280"/>
            <a:ext cx="594360" cy="1828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02</a:t>
            </a:r>
            <a:endParaRPr lang="en-US" sz="2000" dirty="0"/>
          </a:p>
        </p:txBody>
      </p:sp>
      <p:sp>
        <p:nvSpPr>
          <p:cNvPr id="13" name="Text 11"/>
          <p:cNvSpPr/>
          <p:nvPr/>
        </p:nvSpPr>
        <p:spPr>
          <a:xfrm>
            <a:off x="5486400" y="1188720"/>
            <a:ext cx="34290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28A087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ABOGADOS</a:t>
            </a:r>
            <a:endParaRPr lang="en-US" sz="1300" dirty="0"/>
          </a:p>
        </p:txBody>
      </p:sp>
      <p:sp>
        <p:nvSpPr>
          <p:cNvPr id="14" name="Text 12"/>
          <p:cNvSpPr/>
          <p:nvPr/>
        </p:nvSpPr>
        <p:spPr>
          <a:xfrm>
            <a:off x="5486400" y="1572768"/>
            <a:ext cx="3429000" cy="12618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2D374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Campos: N° Colegiatura · Nombres · Apellidos · Especialidad · Años Experiencia (solo números) · Formación · Idiomas · Tarifa/Hora (solo números) · Disponibilidad · Foto (Pillow)</a:t>
            </a:r>
            <a:endParaRPr lang="en-US" sz="1050" dirty="0"/>
          </a:p>
        </p:txBody>
      </p:sp>
      <p:sp>
        <p:nvSpPr>
          <p:cNvPr id="15" name="Shape 13"/>
          <p:cNvSpPr/>
          <p:nvPr/>
        </p:nvSpPr>
        <p:spPr>
          <a:xfrm>
            <a:off x="320040" y="3090672"/>
            <a:ext cx="4206240" cy="1828800"/>
          </a:xfrm>
          <a:prstGeom prst="rect">
            <a:avLst/>
          </a:prstGeom>
          <a:solidFill>
            <a:srgbClr val="FFFFFF"/>
          </a:solidFill>
          <a:ln w="12700">
            <a:solidFill>
              <a:srgbClr val="E0E0E0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0000"/>
              </a:srgbClr>
            </a:outerShdw>
          </a:effectLst>
        </p:spPr>
      </p:sp>
      <p:sp>
        <p:nvSpPr>
          <p:cNvPr id="16" name="Shape 14"/>
          <p:cNvSpPr/>
          <p:nvPr/>
        </p:nvSpPr>
        <p:spPr>
          <a:xfrm>
            <a:off x="320040" y="3090672"/>
            <a:ext cx="594360" cy="1828800"/>
          </a:xfrm>
          <a:prstGeom prst="rect">
            <a:avLst/>
          </a:prstGeom>
          <a:solidFill>
            <a:srgbClr val="C9A84C"/>
          </a:solidFill>
          <a:ln w="12700">
            <a:solidFill>
              <a:srgbClr val="C9A84C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320040" y="3090672"/>
            <a:ext cx="594360" cy="1828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03</a:t>
            </a:r>
            <a:endParaRPr lang="en-US" sz="2000" dirty="0"/>
          </a:p>
        </p:txBody>
      </p:sp>
      <p:sp>
        <p:nvSpPr>
          <p:cNvPr id="18" name="Text 16"/>
          <p:cNvSpPr/>
          <p:nvPr/>
        </p:nvSpPr>
        <p:spPr>
          <a:xfrm>
            <a:off x="1005840" y="3182112"/>
            <a:ext cx="34290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E2761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CASOS LEGALES</a:t>
            </a:r>
            <a:endParaRPr lang="en-US" sz="1300" dirty="0"/>
          </a:p>
        </p:txBody>
      </p:sp>
      <p:sp>
        <p:nvSpPr>
          <p:cNvPr id="19" name="Text 17"/>
          <p:cNvSpPr/>
          <p:nvPr/>
        </p:nvSpPr>
        <p:spPr>
          <a:xfrm>
            <a:off x="1005840" y="3566160"/>
            <a:ext cx="3429000" cy="12618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2D374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Campos: N° Caso · Título · Tipo · Rama del Derecho · Fecha Apertura · Cliente · Contraparte · Juzgado · N° Expediente · Abogado Principal · Estado · Fecha Conclusión</a:t>
            </a:r>
            <a:endParaRPr lang="en-US" sz="1050" dirty="0"/>
          </a:p>
        </p:txBody>
      </p:sp>
      <p:sp>
        <p:nvSpPr>
          <p:cNvPr id="20" name="Shape 18"/>
          <p:cNvSpPr/>
          <p:nvPr/>
        </p:nvSpPr>
        <p:spPr>
          <a:xfrm>
            <a:off x="4800600" y="3090672"/>
            <a:ext cx="4206240" cy="1828800"/>
          </a:xfrm>
          <a:prstGeom prst="rect">
            <a:avLst/>
          </a:prstGeom>
          <a:solidFill>
            <a:srgbClr val="FFFFFF"/>
          </a:solidFill>
          <a:ln w="12700">
            <a:solidFill>
              <a:srgbClr val="E0E0E0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0000"/>
              </a:srgbClr>
            </a:outerShdw>
          </a:effectLst>
        </p:spPr>
      </p:sp>
      <p:sp>
        <p:nvSpPr>
          <p:cNvPr id="21" name="Shape 19"/>
          <p:cNvSpPr/>
          <p:nvPr/>
        </p:nvSpPr>
        <p:spPr>
          <a:xfrm>
            <a:off x="4800600" y="3090672"/>
            <a:ext cx="594360" cy="1828800"/>
          </a:xfrm>
          <a:prstGeom prst="rect">
            <a:avLst/>
          </a:prstGeom>
          <a:solidFill>
            <a:srgbClr val="8B4A4A"/>
          </a:solidFill>
          <a:ln w="12700">
            <a:solidFill>
              <a:srgbClr val="8B4A4A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4800600" y="3090672"/>
            <a:ext cx="594360" cy="1828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04</a:t>
            </a:r>
            <a:endParaRPr lang="en-US" sz="2000" dirty="0"/>
          </a:p>
        </p:txBody>
      </p:sp>
      <p:sp>
        <p:nvSpPr>
          <p:cNvPr id="23" name="Text 21"/>
          <p:cNvSpPr/>
          <p:nvPr/>
        </p:nvSpPr>
        <p:spPr>
          <a:xfrm>
            <a:off x="5486400" y="3182112"/>
            <a:ext cx="34290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8B4A4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AUDIENCIAS Y CITAS</a:t>
            </a:r>
            <a:endParaRPr lang="en-US" sz="1300" dirty="0"/>
          </a:p>
        </p:txBody>
      </p:sp>
      <p:sp>
        <p:nvSpPr>
          <p:cNvPr id="24" name="Text 22"/>
          <p:cNvSpPr/>
          <p:nvPr/>
        </p:nvSpPr>
        <p:spPr>
          <a:xfrm>
            <a:off x="5486400" y="3566160"/>
            <a:ext cx="3429000" cy="12618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2D374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Campos: Código · Tipo · Caso Relacionado · Fecha/Hora (calendario) · Duración · Lugar · Participantes Internos/Externos · Propósito (texto largo) · Resultado Esperado · Resultado Real</a:t>
            </a:r>
            <a:endParaRPr lang="en-US" sz="105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EEF1F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960120"/>
          </a:xfrm>
          <a:prstGeom prst="rect">
            <a:avLst/>
          </a:prstGeom>
          <a:solidFill>
            <a:srgbClr val="1E2761"/>
          </a:solidFill>
          <a:ln w="12700">
            <a:solidFill>
              <a:srgbClr val="1E2761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0"/>
            <a:ext cx="164592" cy="5143500"/>
          </a:xfrm>
          <a:prstGeom prst="rect">
            <a:avLst/>
          </a:prstGeom>
          <a:solidFill>
            <a:srgbClr val="C9A84C"/>
          </a:solidFill>
          <a:ln w="12700">
            <a:solidFill>
              <a:srgbClr val="C9A84C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365760" y="91440"/>
            <a:ext cx="841248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FUNCIONALIDADES CLAVE</a:t>
            </a:r>
            <a:endParaRPr lang="en-US" sz="2600" dirty="0"/>
          </a:p>
        </p:txBody>
      </p:sp>
      <p:sp>
        <p:nvSpPr>
          <p:cNvPr id="5" name="Shape 3"/>
          <p:cNvSpPr/>
          <p:nvPr/>
        </p:nvSpPr>
        <p:spPr>
          <a:xfrm>
            <a:off x="320040" y="1097280"/>
            <a:ext cx="4206240" cy="841248"/>
          </a:xfrm>
          <a:prstGeom prst="rect">
            <a:avLst/>
          </a:prstGeom>
          <a:solidFill>
            <a:srgbClr val="FFFFFF"/>
          </a:solidFill>
          <a:ln w="12700">
            <a:solidFill>
              <a:srgbClr val="E0E0E0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0000"/>
              </a:srgbClr>
            </a:outerShdw>
          </a:effectLst>
        </p:spPr>
      </p:sp>
      <p:sp>
        <p:nvSpPr>
          <p:cNvPr id="6" name="Shape 4"/>
          <p:cNvSpPr/>
          <p:nvPr/>
        </p:nvSpPr>
        <p:spPr>
          <a:xfrm>
            <a:off x="320040" y="1097280"/>
            <a:ext cx="64008" cy="841248"/>
          </a:xfrm>
          <a:prstGeom prst="rect">
            <a:avLst/>
          </a:prstGeom>
          <a:solidFill>
            <a:srgbClr val="1E2761"/>
          </a:solidFill>
          <a:ln w="12700">
            <a:solidFill>
              <a:srgbClr val="1E2761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457200" y="1143000"/>
            <a:ext cx="39319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E2761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💾  CRUD completo</a:t>
            </a:r>
            <a:endParaRPr lang="en-US" sz="1200" dirty="0"/>
          </a:p>
        </p:txBody>
      </p:sp>
      <p:sp>
        <p:nvSpPr>
          <p:cNvPr id="8" name="Text 6"/>
          <p:cNvSpPr/>
          <p:nvPr/>
        </p:nvSpPr>
        <p:spPr>
          <a:xfrm>
            <a:off x="457200" y="1444752"/>
            <a:ext cx="393192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2D374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Guardar, Actualizar, Eliminar y Limpiar en los 4 módulos usando stored procedures SQLite.</a:t>
            </a:r>
            <a:endParaRPr lang="en-US" sz="1100" dirty="0"/>
          </a:p>
        </p:txBody>
      </p:sp>
      <p:sp>
        <p:nvSpPr>
          <p:cNvPr id="9" name="Shape 7"/>
          <p:cNvSpPr/>
          <p:nvPr/>
        </p:nvSpPr>
        <p:spPr>
          <a:xfrm>
            <a:off x="4800600" y="1097280"/>
            <a:ext cx="4206240" cy="841248"/>
          </a:xfrm>
          <a:prstGeom prst="rect">
            <a:avLst/>
          </a:prstGeom>
          <a:solidFill>
            <a:srgbClr val="FFFFFF"/>
          </a:solidFill>
          <a:ln w="12700">
            <a:solidFill>
              <a:srgbClr val="E0E0E0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0000"/>
              </a:srgbClr>
            </a:outerShdw>
          </a:effectLst>
        </p:spPr>
      </p:sp>
      <p:sp>
        <p:nvSpPr>
          <p:cNvPr id="10" name="Shape 8"/>
          <p:cNvSpPr/>
          <p:nvPr/>
        </p:nvSpPr>
        <p:spPr>
          <a:xfrm>
            <a:off x="4800600" y="1097280"/>
            <a:ext cx="64008" cy="841248"/>
          </a:xfrm>
          <a:prstGeom prst="rect">
            <a:avLst/>
          </a:prstGeom>
          <a:solidFill>
            <a:srgbClr val="28A087"/>
          </a:solidFill>
          <a:ln w="12700">
            <a:solidFill>
              <a:srgbClr val="28A087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4937760" y="1143000"/>
            <a:ext cx="39319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28A087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✅  Validaciones en tiempo real</a:t>
            </a:r>
            <a:endParaRPr lang="en-US" sz="1200" dirty="0"/>
          </a:p>
        </p:txBody>
      </p:sp>
      <p:sp>
        <p:nvSpPr>
          <p:cNvPr id="12" name="Text 10"/>
          <p:cNvSpPr/>
          <p:nvPr/>
        </p:nvSpPr>
        <p:spPr>
          <a:xfrm>
            <a:off x="4937760" y="1444752"/>
            <a:ext cx="393192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2D374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Campos numéricos bloquean letras mientras escribes. Email y teléfono validados con regex.</a:t>
            </a:r>
            <a:endParaRPr lang="en-US" sz="1100" dirty="0"/>
          </a:p>
        </p:txBody>
      </p:sp>
      <p:sp>
        <p:nvSpPr>
          <p:cNvPr id="13" name="Shape 11"/>
          <p:cNvSpPr/>
          <p:nvPr/>
        </p:nvSpPr>
        <p:spPr>
          <a:xfrm>
            <a:off x="320040" y="2075688"/>
            <a:ext cx="4206240" cy="841248"/>
          </a:xfrm>
          <a:prstGeom prst="rect">
            <a:avLst/>
          </a:prstGeom>
          <a:solidFill>
            <a:srgbClr val="FFFFFF"/>
          </a:solidFill>
          <a:ln w="12700">
            <a:solidFill>
              <a:srgbClr val="E0E0E0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0000"/>
              </a:srgbClr>
            </a:outerShdw>
          </a:effectLst>
        </p:spPr>
      </p:sp>
      <p:sp>
        <p:nvSpPr>
          <p:cNvPr id="14" name="Shape 12"/>
          <p:cNvSpPr/>
          <p:nvPr/>
        </p:nvSpPr>
        <p:spPr>
          <a:xfrm>
            <a:off x="320040" y="2075688"/>
            <a:ext cx="64008" cy="841248"/>
          </a:xfrm>
          <a:prstGeom prst="rect">
            <a:avLst/>
          </a:prstGeom>
          <a:solidFill>
            <a:srgbClr val="27AE60"/>
          </a:solidFill>
          <a:ln w="12700">
            <a:solidFill>
              <a:srgbClr val="27AE60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457200" y="2121408"/>
            <a:ext cx="39319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27AE60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📊  Exportación a Excel</a:t>
            </a:r>
            <a:endParaRPr lang="en-US" sz="1200" dirty="0"/>
          </a:p>
        </p:txBody>
      </p:sp>
      <p:sp>
        <p:nvSpPr>
          <p:cNvPr id="16" name="Text 14"/>
          <p:cNvSpPr/>
          <p:nvPr/>
        </p:nvSpPr>
        <p:spPr>
          <a:xfrm>
            <a:off x="457200" y="2423160"/>
            <a:ext cx="393192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2D374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Reporte .xlsx con encabezado del bufete, filas alternas, bordes y filtros activos.</a:t>
            </a:r>
            <a:endParaRPr lang="en-US" sz="1100" dirty="0"/>
          </a:p>
        </p:txBody>
      </p:sp>
      <p:sp>
        <p:nvSpPr>
          <p:cNvPr id="17" name="Shape 15"/>
          <p:cNvSpPr/>
          <p:nvPr/>
        </p:nvSpPr>
        <p:spPr>
          <a:xfrm>
            <a:off x="4800600" y="2075688"/>
            <a:ext cx="4206240" cy="841248"/>
          </a:xfrm>
          <a:prstGeom prst="rect">
            <a:avLst/>
          </a:prstGeom>
          <a:solidFill>
            <a:srgbClr val="FFFFFF"/>
          </a:solidFill>
          <a:ln w="12700">
            <a:solidFill>
              <a:srgbClr val="E0E0E0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0000"/>
              </a:srgbClr>
            </a:outerShdw>
          </a:effectLst>
        </p:spPr>
      </p:sp>
      <p:sp>
        <p:nvSpPr>
          <p:cNvPr id="18" name="Shape 16"/>
          <p:cNvSpPr/>
          <p:nvPr/>
        </p:nvSpPr>
        <p:spPr>
          <a:xfrm>
            <a:off x="4800600" y="2075688"/>
            <a:ext cx="64008" cy="841248"/>
          </a:xfrm>
          <a:prstGeom prst="rect">
            <a:avLst/>
          </a:prstGeom>
          <a:solidFill>
            <a:srgbClr val="C0392B"/>
          </a:solidFill>
          <a:ln w="12700">
            <a:solidFill>
              <a:srgbClr val="C0392B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4937760" y="2121408"/>
            <a:ext cx="39319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C0392B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📄  Exportación a PDF</a:t>
            </a:r>
            <a:endParaRPr lang="en-US" sz="1200" dirty="0"/>
          </a:p>
        </p:txBody>
      </p:sp>
      <p:sp>
        <p:nvSpPr>
          <p:cNvPr id="20" name="Text 18"/>
          <p:cNvSpPr/>
          <p:nvPr/>
        </p:nvSpPr>
        <p:spPr>
          <a:xfrm>
            <a:off x="4937760" y="2423160"/>
            <a:ext cx="393192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2D374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Documento .pdf institucional con tabla navy+gold, total de registros y filtros aplicados.</a:t>
            </a:r>
            <a:endParaRPr lang="en-US" sz="1100" dirty="0"/>
          </a:p>
        </p:txBody>
      </p:sp>
      <p:sp>
        <p:nvSpPr>
          <p:cNvPr id="21" name="Shape 19"/>
          <p:cNvSpPr/>
          <p:nvPr/>
        </p:nvSpPr>
        <p:spPr>
          <a:xfrm>
            <a:off x="320040" y="3054096"/>
            <a:ext cx="4206240" cy="841248"/>
          </a:xfrm>
          <a:prstGeom prst="rect">
            <a:avLst/>
          </a:prstGeom>
          <a:solidFill>
            <a:srgbClr val="FFFFFF"/>
          </a:solidFill>
          <a:ln w="12700">
            <a:solidFill>
              <a:srgbClr val="E0E0E0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0000"/>
              </a:srgbClr>
            </a:outerShdw>
          </a:effectLst>
        </p:spPr>
      </p:sp>
      <p:sp>
        <p:nvSpPr>
          <p:cNvPr id="22" name="Shape 20"/>
          <p:cNvSpPr/>
          <p:nvPr/>
        </p:nvSpPr>
        <p:spPr>
          <a:xfrm>
            <a:off x="320040" y="3054096"/>
            <a:ext cx="64008" cy="841248"/>
          </a:xfrm>
          <a:prstGeom prst="rect">
            <a:avLst/>
          </a:prstGeom>
          <a:solidFill>
            <a:srgbClr val="2980B9"/>
          </a:solidFill>
          <a:ln w="12700">
            <a:solidFill>
              <a:srgbClr val="2980B9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457200" y="3099816"/>
            <a:ext cx="39319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2980B9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📷  Gestión de imágenes</a:t>
            </a:r>
            <a:endParaRPr lang="en-US" sz="1200" dirty="0"/>
          </a:p>
        </p:txBody>
      </p:sp>
      <p:sp>
        <p:nvSpPr>
          <p:cNvPr id="24" name="Text 22"/>
          <p:cNvSpPr/>
          <p:nvPr/>
        </p:nvSpPr>
        <p:spPr>
          <a:xfrm>
            <a:off x="457200" y="3401568"/>
            <a:ext cx="393192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2D374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Fotos en Clientes y Abogados: valida formato (JPG/PNG/GIF) y tamaño (máx. 5 MB) con Pillow.</a:t>
            </a:r>
            <a:endParaRPr lang="en-US" sz="1100" dirty="0"/>
          </a:p>
        </p:txBody>
      </p:sp>
      <p:sp>
        <p:nvSpPr>
          <p:cNvPr id="25" name="Shape 23"/>
          <p:cNvSpPr/>
          <p:nvPr/>
        </p:nvSpPr>
        <p:spPr>
          <a:xfrm>
            <a:off x="4800600" y="3054096"/>
            <a:ext cx="4206240" cy="841248"/>
          </a:xfrm>
          <a:prstGeom prst="rect">
            <a:avLst/>
          </a:prstGeom>
          <a:solidFill>
            <a:srgbClr val="FFFFFF"/>
          </a:solidFill>
          <a:ln w="12700">
            <a:solidFill>
              <a:srgbClr val="E0E0E0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0000"/>
              </a:srgbClr>
            </a:outerShdw>
          </a:effectLst>
        </p:spPr>
      </p:sp>
      <p:sp>
        <p:nvSpPr>
          <p:cNvPr id="26" name="Shape 24"/>
          <p:cNvSpPr/>
          <p:nvPr/>
        </p:nvSpPr>
        <p:spPr>
          <a:xfrm>
            <a:off x="4800600" y="3054096"/>
            <a:ext cx="64008" cy="841248"/>
          </a:xfrm>
          <a:prstGeom prst="rect">
            <a:avLst/>
          </a:prstGeom>
          <a:solidFill>
            <a:srgbClr val="8E44AD"/>
          </a:solidFill>
          <a:ln w="12700">
            <a:solidFill>
              <a:srgbClr val="8E44AD"/>
            </a:solidFill>
            <a:prstDash val="solid"/>
          </a:ln>
        </p:spPr>
      </p:sp>
      <p:sp>
        <p:nvSpPr>
          <p:cNvPr id="27" name="Text 25"/>
          <p:cNvSpPr/>
          <p:nvPr/>
        </p:nvSpPr>
        <p:spPr>
          <a:xfrm>
            <a:off x="4937760" y="3099816"/>
            <a:ext cx="39319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8E44AD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🔍  Filtros de exportación</a:t>
            </a:r>
            <a:endParaRPr lang="en-US" sz="1200" dirty="0"/>
          </a:p>
        </p:txBody>
      </p:sp>
      <p:sp>
        <p:nvSpPr>
          <p:cNvPr id="28" name="Text 26"/>
          <p:cNvSpPr/>
          <p:nvPr/>
        </p:nvSpPr>
        <p:spPr>
          <a:xfrm>
            <a:off x="4937760" y="3401568"/>
            <a:ext cx="393192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2D374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Cada módulo permite filtrar por rango de fechas, tipo, estado, especialidad o clasificación.</a:t>
            </a:r>
            <a:endParaRPr lang="en-US" sz="1100" dirty="0"/>
          </a:p>
        </p:txBody>
      </p:sp>
      <p:sp>
        <p:nvSpPr>
          <p:cNvPr id="29" name="Shape 27"/>
          <p:cNvSpPr/>
          <p:nvPr/>
        </p:nvSpPr>
        <p:spPr>
          <a:xfrm>
            <a:off x="320040" y="4032504"/>
            <a:ext cx="4206240" cy="841248"/>
          </a:xfrm>
          <a:prstGeom prst="rect">
            <a:avLst/>
          </a:prstGeom>
          <a:solidFill>
            <a:srgbClr val="FFFFFF"/>
          </a:solidFill>
          <a:ln w="12700">
            <a:solidFill>
              <a:srgbClr val="E0E0E0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0000"/>
              </a:srgbClr>
            </a:outerShdw>
          </a:effectLst>
        </p:spPr>
      </p:sp>
      <p:sp>
        <p:nvSpPr>
          <p:cNvPr id="30" name="Shape 28"/>
          <p:cNvSpPr/>
          <p:nvPr/>
        </p:nvSpPr>
        <p:spPr>
          <a:xfrm>
            <a:off x="320040" y="4032504"/>
            <a:ext cx="64008" cy="841248"/>
          </a:xfrm>
          <a:prstGeom prst="rect">
            <a:avLst/>
          </a:prstGeom>
          <a:solidFill>
            <a:srgbClr val="E67E22"/>
          </a:solidFill>
          <a:ln w="12700">
            <a:solidFill>
              <a:srgbClr val="E67E22"/>
            </a:solidFill>
            <a:prstDash val="solid"/>
          </a:ln>
        </p:spPr>
      </p:sp>
      <p:sp>
        <p:nvSpPr>
          <p:cNvPr id="31" name="Text 29"/>
          <p:cNvSpPr/>
          <p:nvPr/>
        </p:nvSpPr>
        <p:spPr>
          <a:xfrm>
            <a:off x="457200" y="4078224"/>
            <a:ext cx="39319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E67E22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📅  Calendario flotante</a:t>
            </a:r>
            <a:endParaRPr lang="en-US" sz="1200" dirty="0"/>
          </a:p>
        </p:txBody>
      </p:sp>
      <p:sp>
        <p:nvSpPr>
          <p:cNvPr id="32" name="Text 30"/>
          <p:cNvSpPr/>
          <p:nvPr/>
        </p:nvSpPr>
        <p:spPr>
          <a:xfrm>
            <a:off x="457200" y="4379976"/>
            <a:ext cx="393192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2D374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Todos los campos de fecha usan DateEntry de tkcalendar con selector visual interactivo.</a:t>
            </a:r>
            <a:endParaRPr lang="en-US" sz="1100" dirty="0"/>
          </a:p>
        </p:txBody>
      </p:sp>
      <p:sp>
        <p:nvSpPr>
          <p:cNvPr id="33" name="Shape 31"/>
          <p:cNvSpPr/>
          <p:nvPr/>
        </p:nvSpPr>
        <p:spPr>
          <a:xfrm>
            <a:off x="4800600" y="4032504"/>
            <a:ext cx="4206240" cy="841248"/>
          </a:xfrm>
          <a:prstGeom prst="rect">
            <a:avLst/>
          </a:prstGeom>
          <a:solidFill>
            <a:srgbClr val="FFFFFF"/>
          </a:solidFill>
          <a:ln w="12700">
            <a:solidFill>
              <a:srgbClr val="E0E0E0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0000"/>
              </a:srgbClr>
            </a:outerShdw>
          </a:effectLst>
        </p:spPr>
      </p:sp>
      <p:sp>
        <p:nvSpPr>
          <p:cNvPr id="34" name="Shape 32"/>
          <p:cNvSpPr/>
          <p:nvPr/>
        </p:nvSpPr>
        <p:spPr>
          <a:xfrm>
            <a:off x="4800600" y="4032504"/>
            <a:ext cx="64008" cy="841248"/>
          </a:xfrm>
          <a:prstGeom prst="rect">
            <a:avLst/>
          </a:prstGeom>
          <a:solidFill>
            <a:srgbClr val="8B4A4A"/>
          </a:solidFill>
          <a:ln w="12700">
            <a:solidFill>
              <a:srgbClr val="8B4A4A"/>
            </a:solidFill>
            <a:prstDash val="solid"/>
          </a:ln>
        </p:spPr>
      </p:sp>
      <p:sp>
        <p:nvSpPr>
          <p:cNvPr id="35" name="Text 33"/>
          <p:cNvSpPr/>
          <p:nvPr/>
        </p:nvSpPr>
        <p:spPr>
          <a:xfrm>
            <a:off x="4937760" y="4078224"/>
            <a:ext cx="39319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8B4A4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🎨  Temas Claro / Oscuro</a:t>
            </a:r>
            <a:endParaRPr lang="en-US" sz="1200" dirty="0"/>
          </a:p>
        </p:txBody>
      </p:sp>
      <p:sp>
        <p:nvSpPr>
          <p:cNvPr id="36" name="Text 34"/>
          <p:cNvSpPr/>
          <p:nvPr/>
        </p:nvSpPr>
        <p:spPr>
          <a:xfrm>
            <a:off x="4937760" y="4379976"/>
            <a:ext cx="393192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2D374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Cambio de tema en tiempo real desde el menú. Todos los widgets actualizan colores al instante.</a:t>
            </a:r>
            <a:endParaRPr lang="en-US" sz="11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1E276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64592" cy="5143500"/>
          </a:xfrm>
          <a:prstGeom prst="rect">
            <a:avLst/>
          </a:prstGeom>
          <a:solidFill>
            <a:srgbClr val="C9A84C"/>
          </a:solidFill>
          <a:ln w="12700">
            <a:solidFill>
              <a:srgbClr val="C9A84C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4434840"/>
            <a:ext cx="9144000" cy="708660"/>
          </a:xfrm>
          <a:prstGeom prst="rect">
            <a:avLst/>
          </a:prstGeom>
          <a:solidFill>
            <a:srgbClr val="162054"/>
          </a:solidFill>
          <a:ln w="12700">
            <a:solidFill>
              <a:srgbClr val="162054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457200" y="182880"/>
            <a:ext cx="822960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600" b="1" dirty="0">
                <a:solidFill>
                  <a:srgbClr val="C9A84C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CONCLUSIONES Y APRENDIZAJES</a:t>
            </a:r>
            <a:endParaRPr lang="en-US" sz="2600" dirty="0"/>
          </a:p>
        </p:txBody>
      </p:sp>
      <p:sp>
        <p:nvSpPr>
          <p:cNvPr id="5" name="Shape 3"/>
          <p:cNvSpPr/>
          <p:nvPr/>
        </p:nvSpPr>
        <p:spPr>
          <a:xfrm>
            <a:off x="365760" y="960120"/>
            <a:ext cx="8412480" cy="667512"/>
          </a:xfrm>
          <a:prstGeom prst="rect">
            <a:avLst/>
          </a:prstGeom>
          <a:solidFill>
            <a:srgbClr val="FFFFFF">
              <a:alpha val="10000"/>
            </a:srgbClr>
          </a:solidFill>
          <a:ln w="12700">
            <a:solidFill>
              <a:srgbClr val="C9A84C">
                <a:alpha val="40000"/>
              </a:srgbClr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365760" y="960120"/>
            <a:ext cx="64008" cy="667512"/>
          </a:xfrm>
          <a:prstGeom prst="rect">
            <a:avLst/>
          </a:prstGeom>
          <a:solidFill>
            <a:srgbClr val="C9A84C"/>
          </a:solidFill>
          <a:ln w="12700">
            <a:solidFill>
              <a:srgbClr val="C9A84C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548640" y="1069848"/>
            <a:ext cx="21945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C9A84C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Organización modular:</a:t>
            </a:r>
            <a:endParaRPr lang="en-US" sz="1250" dirty="0"/>
          </a:p>
        </p:txBody>
      </p:sp>
      <p:sp>
        <p:nvSpPr>
          <p:cNvPr id="8" name="Text 6"/>
          <p:cNvSpPr/>
          <p:nvPr/>
        </p:nvSpPr>
        <p:spPr>
          <a:xfrm>
            <a:off x="2697480" y="1069848"/>
            <a:ext cx="59436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Separar el código en models/ y utils/ hace el proyecto más claro, mantenible y profesional.</a:t>
            </a:r>
            <a:endParaRPr lang="en-US" sz="1250" dirty="0"/>
          </a:p>
        </p:txBody>
      </p:sp>
      <p:sp>
        <p:nvSpPr>
          <p:cNvPr id="9" name="Shape 7"/>
          <p:cNvSpPr/>
          <p:nvPr/>
        </p:nvSpPr>
        <p:spPr>
          <a:xfrm>
            <a:off x="365760" y="1673352"/>
            <a:ext cx="8412480" cy="667512"/>
          </a:xfrm>
          <a:prstGeom prst="rect">
            <a:avLst/>
          </a:prstGeom>
          <a:solidFill>
            <a:srgbClr val="FFFFFF">
              <a:alpha val="10000"/>
            </a:srgbClr>
          </a:solidFill>
          <a:ln w="12700">
            <a:solidFill>
              <a:srgbClr val="C9A84C">
                <a:alpha val="40000"/>
              </a:srgbClr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>
            <a:off x="365760" y="1673352"/>
            <a:ext cx="64008" cy="667512"/>
          </a:xfrm>
          <a:prstGeom prst="rect">
            <a:avLst/>
          </a:prstGeom>
          <a:solidFill>
            <a:srgbClr val="C9A84C"/>
          </a:solidFill>
          <a:ln w="12700">
            <a:solidFill>
              <a:srgbClr val="C9A84C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548640" y="1783080"/>
            <a:ext cx="21945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C9A84C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Base de datos integrada:</a:t>
            </a:r>
            <a:endParaRPr lang="en-US" sz="1250" dirty="0"/>
          </a:p>
        </p:txBody>
      </p:sp>
      <p:sp>
        <p:nvSpPr>
          <p:cNvPr id="12" name="Text 10"/>
          <p:cNvSpPr/>
          <p:nvPr/>
        </p:nvSpPr>
        <p:spPr>
          <a:xfrm>
            <a:off x="2697480" y="1783080"/>
            <a:ext cx="59436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Los stored procedures como funciones Python y las VIEWs en SQLite garantizan consultas seguras y reutilizables.</a:t>
            </a:r>
            <a:endParaRPr lang="en-US" sz="1250" dirty="0"/>
          </a:p>
        </p:txBody>
      </p:sp>
      <p:sp>
        <p:nvSpPr>
          <p:cNvPr id="13" name="Shape 11"/>
          <p:cNvSpPr/>
          <p:nvPr/>
        </p:nvSpPr>
        <p:spPr>
          <a:xfrm>
            <a:off x="365760" y="2386584"/>
            <a:ext cx="8412480" cy="667512"/>
          </a:xfrm>
          <a:prstGeom prst="rect">
            <a:avLst/>
          </a:prstGeom>
          <a:solidFill>
            <a:srgbClr val="FFFFFF">
              <a:alpha val="10000"/>
            </a:srgbClr>
          </a:solidFill>
          <a:ln w="12700">
            <a:solidFill>
              <a:srgbClr val="C9A84C">
                <a:alpha val="40000"/>
              </a:srgbClr>
            </a:solidFill>
            <a:prstDash val="solid"/>
          </a:ln>
        </p:spPr>
      </p:sp>
      <p:sp>
        <p:nvSpPr>
          <p:cNvPr id="14" name="Shape 12"/>
          <p:cNvSpPr/>
          <p:nvPr/>
        </p:nvSpPr>
        <p:spPr>
          <a:xfrm>
            <a:off x="365760" y="2386584"/>
            <a:ext cx="64008" cy="667512"/>
          </a:xfrm>
          <a:prstGeom prst="rect">
            <a:avLst/>
          </a:prstGeom>
          <a:solidFill>
            <a:srgbClr val="C9A84C"/>
          </a:solidFill>
          <a:ln w="12700">
            <a:solidFill>
              <a:srgbClr val="C9A84C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548640" y="2496312"/>
            <a:ext cx="21945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C9A84C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Validaciones de calidad:</a:t>
            </a:r>
            <a:endParaRPr lang="en-US" sz="1250" dirty="0"/>
          </a:p>
        </p:txBody>
      </p:sp>
      <p:sp>
        <p:nvSpPr>
          <p:cNvPr id="16" name="Text 14"/>
          <p:cNvSpPr/>
          <p:nvPr/>
        </p:nvSpPr>
        <p:spPr>
          <a:xfrm>
            <a:off x="2697480" y="2496312"/>
            <a:ext cx="59436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Bloquear letras en campos numéricos en tiempo real evita errores antes de llegar a la base de datos.</a:t>
            </a:r>
            <a:endParaRPr lang="en-US" sz="1250" dirty="0"/>
          </a:p>
        </p:txBody>
      </p:sp>
      <p:sp>
        <p:nvSpPr>
          <p:cNvPr id="17" name="Shape 15"/>
          <p:cNvSpPr/>
          <p:nvPr/>
        </p:nvSpPr>
        <p:spPr>
          <a:xfrm>
            <a:off x="365760" y="3099816"/>
            <a:ext cx="8412480" cy="667512"/>
          </a:xfrm>
          <a:prstGeom prst="rect">
            <a:avLst/>
          </a:prstGeom>
          <a:solidFill>
            <a:srgbClr val="FFFFFF">
              <a:alpha val="10000"/>
            </a:srgbClr>
          </a:solidFill>
          <a:ln w="12700">
            <a:solidFill>
              <a:srgbClr val="C9A84C">
                <a:alpha val="40000"/>
              </a:srgbClr>
            </a:solidFill>
            <a:prstDash val="solid"/>
          </a:ln>
        </p:spPr>
      </p:sp>
      <p:sp>
        <p:nvSpPr>
          <p:cNvPr id="18" name="Shape 16"/>
          <p:cNvSpPr/>
          <p:nvPr/>
        </p:nvSpPr>
        <p:spPr>
          <a:xfrm>
            <a:off x="365760" y="3099816"/>
            <a:ext cx="64008" cy="667512"/>
          </a:xfrm>
          <a:prstGeom prst="rect">
            <a:avLst/>
          </a:prstGeom>
          <a:solidFill>
            <a:srgbClr val="C9A84C"/>
          </a:solidFill>
          <a:ln w="12700">
            <a:solidFill>
              <a:srgbClr val="C9A84C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548640" y="3209544"/>
            <a:ext cx="21945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C9A84C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Exportación profesional:</a:t>
            </a:r>
            <a:endParaRPr lang="en-US" sz="1250" dirty="0"/>
          </a:p>
        </p:txBody>
      </p:sp>
      <p:sp>
        <p:nvSpPr>
          <p:cNvPr id="20" name="Text 18"/>
          <p:cNvSpPr/>
          <p:nvPr/>
        </p:nvSpPr>
        <p:spPr>
          <a:xfrm>
            <a:off x="2697480" y="3209544"/>
            <a:ext cx="59436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Generar Excel y PDF con filtros y estilos corporativos le da un valor real al sistema en entornos empresariales.</a:t>
            </a:r>
            <a:endParaRPr lang="en-US" sz="1250" dirty="0"/>
          </a:p>
        </p:txBody>
      </p:sp>
      <p:sp>
        <p:nvSpPr>
          <p:cNvPr id="21" name="Shape 19"/>
          <p:cNvSpPr/>
          <p:nvPr/>
        </p:nvSpPr>
        <p:spPr>
          <a:xfrm>
            <a:off x="365760" y="3813048"/>
            <a:ext cx="8412480" cy="667512"/>
          </a:xfrm>
          <a:prstGeom prst="rect">
            <a:avLst/>
          </a:prstGeom>
          <a:solidFill>
            <a:srgbClr val="FFFFFF">
              <a:alpha val="10000"/>
            </a:srgbClr>
          </a:solidFill>
          <a:ln w="12700">
            <a:solidFill>
              <a:srgbClr val="C9A84C">
                <a:alpha val="40000"/>
              </a:srgbClr>
            </a:solidFill>
            <a:prstDash val="solid"/>
          </a:ln>
        </p:spPr>
      </p:sp>
      <p:sp>
        <p:nvSpPr>
          <p:cNvPr id="22" name="Shape 20"/>
          <p:cNvSpPr/>
          <p:nvPr/>
        </p:nvSpPr>
        <p:spPr>
          <a:xfrm>
            <a:off x="365760" y="3813048"/>
            <a:ext cx="64008" cy="667512"/>
          </a:xfrm>
          <a:prstGeom prst="rect">
            <a:avLst/>
          </a:prstGeom>
          <a:solidFill>
            <a:srgbClr val="C9A84C"/>
          </a:solidFill>
          <a:ln w="12700">
            <a:solidFill>
              <a:srgbClr val="C9A84C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548640" y="3922776"/>
            <a:ext cx="21945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C9A84C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Docker para reproducibilidad:</a:t>
            </a:r>
            <a:endParaRPr lang="en-US" sz="1250" dirty="0"/>
          </a:p>
        </p:txBody>
      </p:sp>
      <p:sp>
        <p:nvSpPr>
          <p:cNvPr id="24" name="Text 22"/>
          <p:cNvSpPr/>
          <p:nvPr/>
        </p:nvSpPr>
        <p:spPr>
          <a:xfrm>
            <a:off x="2697480" y="3922776"/>
            <a:ext cx="59436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Incluir Dockerfile y docker-compose.yml garantiza que el proyecto funcione en cualquier equipo sin configuración manual.</a:t>
            </a:r>
            <a:endParaRPr lang="en-US" sz="1250" dirty="0"/>
          </a:p>
        </p:txBody>
      </p:sp>
      <p:sp>
        <p:nvSpPr>
          <p:cNvPr id="25" name="Text 23"/>
          <p:cNvSpPr/>
          <p:nvPr/>
        </p:nvSpPr>
        <p:spPr>
          <a:xfrm>
            <a:off x="365760" y="4526280"/>
            <a:ext cx="841248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6677A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Justicia &amp; Asociados  |  Python + Tkinter + SQLite  |  2025</a:t>
            </a:r>
            <a:endParaRPr lang="en-US" sz="10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8</Slides>
  <Notes>8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8</vt:i4>
      </vt:variant>
    </vt:vector>
  </HeadingPairs>
  <TitlesOfParts>
    <vt:vector size="11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Justicia &amp; Asociados - LawFirm Management</dc:title>
  <dc:subject>PptxGenJS Presentation</dc:subject>
  <dc:creator>PptxGenJS</dc:creator>
  <cp:lastModifiedBy>PptxGenJS</cp:lastModifiedBy>
  <cp:revision>1</cp:revision>
  <dcterms:created xsi:type="dcterms:W3CDTF">2026-04-02T03:43:24Z</dcterms:created>
  <dcterms:modified xsi:type="dcterms:W3CDTF">2026-04-02T03:43:24Z</dcterms:modified>
</cp:coreProperties>
</file>